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9" r:id="rId12"/>
    <p:sldId id="270" r:id="rId13"/>
    <p:sldId id="271" r:id="rId14"/>
    <p:sldId id="273" r:id="rId15"/>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0930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C2E1C-4BFE-CF60-AB54-490D2B1573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42D05-9580-A76A-5526-6D4DF6109F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A7693F-D5B3-E79D-4B8C-5AB3791AEF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C46F06-4924-5327-1949-BB98F8B25B1D}"/>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1012722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99A83-79FF-1534-840B-CFCFEC734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E4069B-2A66-8125-65A8-87FDEBF666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A6AAC0-43E5-3BE4-AB89-4F14EC351C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C9E747-3C0F-16D2-3873-FBCFC30AF4F9}"/>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13868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svg"/><Relationship Id="rId4" Type="http://schemas.openxmlformats.org/officeDocument/2006/relationships/image" Target="../media/image21.svg"/><Relationship Id="rId9" Type="http://schemas.openxmlformats.org/officeDocument/2006/relationships/image" Target="../media/image26.png"/><Relationship Id="rId14" Type="http://schemas.openxmlformats.org/officeDocument/2006/relationships/image" Target="../media/image31.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871418"/>
            <a:ext cx="13042821" cy="1949841"/>
          </a:xfrm>
          <a:prstGeom prst="rect">
            <a:avLst/>
          </a:prstGeom>
          <a:noFill/>
          <a:ln/>
        </p:spPr>
        <p:txBody>
          <a:bodyPr wrap="square" lIns="0" tIns="0" rIns="0" bIns="0" rtlCol="0" anchor="t"/>
          <a:lstStyle/>
          <a:p>
            <a:pPr algn="ctr">
              <a:lnSpc>
                <a:spcPts val="5550"/>
              </a:lnSpc>
            </a:pPr>
            <a:r>
              <a:rPr lang="en-US" sz="4450" dirty="0">
                <a:solidFill>
                  <a:srgbClr val="F2F0F4"/>
                </a:solidFill>
                <a:latin typeface="Times New Roman" panose="02020603050405020304" pitchFamily="18" charset="0"/>
                <a:ea typeface="Montserrat" pitchFamily="34" charset="-122"/>
                <a:cs typeface="Times New Roman" panose="02020603050405020304" pitchFamily="18" charset="0"/>
              </a:rPr>
              <a:t>THIẾT</a:t>
            </a:r>
            <a:r>
              <a:rPr lang="vi-VN" sz="4450" dirty="0">
                <a:solidFill>
                  <a:srgbClr val="F2F0F4"/>
                </a:solidFill>
                <a:latin typeface="Times New Roman" panose="02020603050405020304" pitchFamily="18" charset="0"/>
                <a:ea typeface="Montserrat" pitchFamily="34" charset="-122"/>
                <a:cs typeface="Times New Roman" panose="02020603050405020304" pitchFamily="18" charset="0"/>
              </a:rPr>
              <a:t> KẾ GAME KÉO </a:t>
            </a:r>
            <a:r>
              <a:rPr lang="vi-VN" sz="4450">
                <a:solidFill>
                  <a:srgbClr val="F2F0F4"/>
                </a:solidFill>
                <a:latin typeface="Times New Roman" panose="02020603050405020304" pitchFamily="18" charset="0"/>
                <a:ea typeface="Montserrat" pitchFamily="34" charset="-122"/>
                <a:cs typeface="Times New Roman" panose="02020603050405020304" pitchFamily="18" charset="0"/>
              </a:rPr>
              <a:t>BÚA BAO </a:t>
            </a:r>
            <a:r>
              <a:rPr lang="vi-VN" sz="4450" dirty="0">
                <a:solidFill>
                  <a:srgbClr val="F2F0F4"/>
                </a:solidFill>
                <a:latin typeface="Times New Roman" panose="02020603050405020304" pitchFamily="18" charset="0"/>
                <a:ea typeface="Montserrat" pitchFamily="34" charset="-122"/>
                <a:cs typeface="Times New Roman" panose="02020603050405020304" pitchFamily="18" charset="0"/>
              </a:rPr>
              <a:t>VỚI MÁY DỰA TRÊN AI NHẬN DIỆN BÀN TAY</a:t>
            </a:r>
            <a:endParaRPr lang="en-US" sz="4450" dirty="0">
              <a:latin typeface="Times New Roman" panose="02020603050405020304" pitchFamily="18" charset="0"/>
              <a:cs typeface="Times New Roman" panose="02020603050405020304" pitchFamily="18" charset="0"/>
            </a:endParaRPr>
          </a:p>
        </p:txBody>
      </p:sp>
      <p:sp>
        <p:nvSpPr>
          <p:cNvPr id="3" name="Text 1"/>
          <p:cNvSpPr/>
          <p:nvPr/>
        </p:nvSpPr>
        <p:spPr>
          <a:xfrm>
            <a:off x="213927" y="3570445"/>
            <a:ext cx="13042821" cy="362903"/>
          </a:xfrm>
          <a:prstGeom prst="rect">
            <a:avLst/>
          </a:prstGeom>
          <a:noFill/>
          <a:ln/>
        </p:spPr>
        <p:txBody>
          <a:bodyPr wrap="none" lIns="0" tIns="0" rIns="0" bIns="0" rtlCol="0" anchor="t"/>
          <a:lstStyle/>
          <a:p>
            <a:pPr marL="0" indent="0" algn="l">
              <a:lnSpc>
                <a:spcPts val="2850"/>
              </a:lnSpc>
              <a:buNone/>
            </a:pPr>
            <a:r>
              <a:rPr lang="vi-VN" sz="2800" b="1" dirty="0">
                <a:solidFill>
                  <a:srgbClr val="DCD7E5"/>
                </a:solidFill>
                <a:latin typeface="Times New Roman" panose="02020603050405020304" pitchFamily="18" charset="0"/>
                <a:ea typeface="Heebo Light" pitchFamily="34" charset="-122"/>
                <a:cs typeface="Times New Roman" panose="02020603050405020304" pitchFamily="18" charset="0"/>
              </a:rPr>
              <a:t>	</a:t>
            </a:r>
            <a:r>
              <a:rPr lang="en-US" sz="2800" b="1" dirty="0">
                <a:solidFill>
                  <a:srgbClr val="DCD7E5"/>
                </a:solidFill>
                <a:latin typeface="Times New Roman" panose="02020603050405020304" pitchFamily="18" charset="0"/>
                <a:ea typeface="Heebo Light" pitchFamily="34" charset="-122"/>
                <a:cs typeface="Times New Roman" panose="02020603050405020304" pitchFamily="18" charset="0"/>
              </a:rPr>
              <a:t>Học phần:</a:t>
            </a:r>
            <a:r>
              <a:rPr lang="en-US" sz="2800" dirty="0">
                <a:solidFill>
                  <a:srgbClr val="DCD7E5"/>
                </a:solidFill>
                <a:latin typeface="Times New Roman" panose="02020603050405020304" pitchFamily="18" charset="0"/>
                <a:ea typeface="Heebo Light" pitchFamily="34" charset="-122"/>
                <a:cs typeface="Times New Roman" panose="02020603050405020304" pitchFamily="18" charset="0"/>
              </a:rPr>
              <a:t> Trí tuệ nhân tạo và Học máy</a:t>
            </a:r>
            <a:endParaRPr lang="en-US" sz="2800" dirty="0">
              <a:latin typeface="Times New Roman" panose="02020603050405020304" pitchFamily="18" charset="0"/>
              <a:cs typeface="Times New Roman" panose="02020603050405020304" pitchFamily="18" charset="0"/>
            </a:endParaRPr>
          </a:p>
        </p:txBody>
      </p:sp>
      <p:sp>
        <p:nvSpPr>
          <p:cNvPr id="4" name="Text 2"/>
          <p:cNvSpPr/>
          <p:nvPr/>
        </p:nvSpPr>
        <p:spPr>
          <a:xfrm>
            <a:off x="213927" y="4188498"/>
            <a:ext cx="13042821" cy="725805"/>
          </a:xfrm>
          <a:prstGeom prst="rect">
            <a:avLst/>
          </a:prstGeom>
          <a:noFill/>
          <a:ln/>
        </p:spPr>
        <p:txBody>
          <a:bodyPr wrap="square" lIns="0" tIns="0" rIns="0" bIns="0" rtlCol="0" anchor="t"/>
          <a:lstStyle/>
          <a:p>
            <a:pPr marL="0" indent="0" algn="l">
              <a:lnSpc>
                <a:spcPts val="2850"/>
              </a:lnSpc>
              <a:buNone/>
            </a:pPr>
            <a:r>
              <a:rPr lang="vi-VN" sz="2800" b="1" dirty="0">
                <a:solidFill>
                  <a:srgbClr val="DCD7E5"/>
                </a:solidFill>
                <a:latin typeface="Times New Roman" panose="02020603050405020304" pitchFamily="18" charset="0"/>
                <a:ea typeface="Heebo Light" pitchFamily="34" charset="-122"/>
                <a:cs typeface="Times New Roman" panose="02020603050405020304" pitchFamily="18" charset="0"/>
              </a:rPr>
              <a:t>	</a:t>
            </a:r>
            <a:r>
              <a:rPr lang="en-US" sz="2800" b="1" dirty="0">
                <a:solidFill>
                  <a:srgbClr val="DCD7E5"/>
                </a:solidFill>
                <a:latin typeface="Times New Roman" panose="02020603050405020304" pitchFamily="18" charset="0"/>
                <a:ea typeface="Heebo Light" pitchFamily="34" charset="-122"/>
                <a:cs typeface="Times New Roman" panose="02020603050405020304" pitchFamily="18" charset="0"/>
              </a:rPr>
              <a:t>Giáo viên hướng dẫn:</a:t>
            </a:r>
            <a:r>
              <a:rPr lang="en-US" sz="2800" dirty="0">
                <a:solidFill>
                  <a:srgbClr val="DCD7E5"/>
                </a:solidFill>
                <a:latin typeface="Times New Roman" panose="02020603050405020304" pitchFamily="18" charset="0"/>
                <a:ea typeface="Heebo Light" pitchFamily="34" charset="-122"/>
                <a:cs typeface="Times New Roman" panose="02020603050405020304" pitchFamily="18" charset="0"/>
              </a:rPr>
              <a:t> TS. Nguyễn Tuấn Linh</a:t>
            </a:r>
            <a:endParaRPr lang="en-US" sz="2800" dirty="0">
              <a:latin typeface="Times New Roman" panose="02020603050405020304" pitchFamily="18" charset="0"/>
              <a:cs typeface="Times New Roman" panose="02020603050405020304" pitchFamily="18" charset="0"/>
            </a:endParaRPr>
          </a:p>
        </p:txBody>
      </p:sp>
      <p:sp>
        <p:nvSpPr>
          <p:cNvPr id="5" name="Text 3"/>
          <p:cNvSpPr/>
          <p:nvPr/>
        </p:nvSpPr>
        <p:spPr>
          <a:xfrm>
            <a:off x="213927" y="5169454"/>
            <a:ext cx="13042821" cy="362903"/>
          </a:xfrm>
          <a:prstGeom prst="rect">
            <a:avLst/>
          </a:prstGeom>
          <a:noFill/>
          <a:ln/>
        </p:spPr>
        <p:txBody>
          <a:bodyPr wrap="none" lIns="0" tIns="0" rIns="0" bIns="0" rtlCol="0" anchor="t"/>
          <a:lstStyle/>
          <a:p>
            <a:pPr marL="0" indent="0" algn="l">
              <a:lnSpc>
                <a:spcPts val="2850"/>
              </a:lnSpc>
              <a:buNone/>
            </a:pPr>
            <a:r>
              <a:rPr lang="vi-VN" sz="2800" b="1" dirty="0">
                <a:solidFill>
                  <a:srgbClr val="DCD7E5"/>
                </a:solidFill>
                <a:latin typeface="Times New Roman" panose="02020603050405020304" pitchFamily="18" charset="0"/>
                <a:ea typeface="Heebo Light" pitchFamily="34" charset="-122"/>
                <a:cs typeface="Times New Roman" panose="02020603050405020304" pitchFamily="18" charset="0"/>
              </a:rPr>
              <a:t>	</a:t>
            </a:r>
            <a:r>
              <a:rPr lang="en-US" sz="2800" b="1" dirty="0">
                <a:solidFill>
                  <a:srgbClr val="DCD7E5"/>
                </a:solidFill>
                <a:latin typeface="Times New Roman" panose="02020603050405020304" pitchFamily="18" charset="0"/>
                <a:ea typeface="Heebo Light" pitchFamily="34" charset="-122"/>
                <a:cs typeface="Times New Roman" panose="02020603050405020304" pitchFamily="18" charset="0"/>
              </a:rPr>
              <a:t>Sinh viên thực hiện:</a:t>
            </a:r>
            <a:r>
              <a:rPr lang="en-US" sz="2800" dirty="0">
                <a:solidFill>
                  <a:srgbClr val="DCD7E5"/>
                </a:solidFill>
                <a:latin typeface="Times New Roman" panose="02020603050405020304" pitchFamily="18" charset="0"/>
                <a:ea typeface="Heebo Light" pitchFamily="34" charset="-122"/>
                <a:cs typeface="Times New Roman" panose="02020603050405020304" pitchFamily="18" charset="0"/>
              </a:rPr>
              <a:t> Hứa Thị Thanh Hiền</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213927" y="5787508"/>
            <a:ext cx="13042821" cy="362903"/>
          </a:xfrm>
          <a:prstGeom prst="rect">
            <a:avLst/>
          </a:prstGeom>
          <a:noFill/>
          <a:ln/>
        </p:spPr>
        <p:txBody>
          <a:bodyPr wrap="none" lIns="0" tIns="0" rIns="0" bIns="0" rtlCol="0" anchor="t"/>
          <a:lstStyle/>
          <a:p>
            <a:pPr marL="0" indent="0" algn="l">
              <a:lnSpc>
                <a:spcPts val="2850"/>
              </a:lnSpc>
              <a:buNone/>
            </a:pPr>
            <a:r>
              <a:rPr lang="vi-VN" sz="2800" b="1" dirty="0">
                <a:solidFill>
                  <a:srgbClr val="DCD7E5"/>
                </a:solidFill>
                <a:latin typeface="Times New Roman" panose="02020603050405020304" pitchFamily="18" charset="0"/>
                <a:ea typeface="Heebo Light" pitchFamily="34" charset="-122"/>
                <a:cs typeface="Times New Roman" panose="02020603050405020304" pitchFamily="18" charset="0"/>
              </a:rPr>
              <a:t>	</a:t>
            </a:r>
            <a:r>
              <a:rPr lang="en-US" sz="2800" b="1" dirty="0" err="1">
                <a:solidFill>
                  <a:srgbClr val="DCD7E5"/>
                </a:solidFill>
                <a:latin typeface="Times New Roman" panose="02020603050405020304" pitchFamily="18" charset="0"/>
                <a:ea typeface="Heebo Light" pitchFamily="34" charset="-122"/>
                <a:cs typeface="Times New Roman" panose="02020603050405020304" pitchFamily="18" charset="0"/>
              </a:rPr>
              <a:t>Mã</a:t>
            </a:r>
            <a:r>
              <a:rPr lang="en-US" sz="2800" b="1" dirty="0">
                <a:solidFill>
                  <a:srgbClr val="DCD7E5"/>
                </a:solidFill>
                <a:latin typeface="Times New Roman" panose="02020603050405020304" pitchFamily="18" charset="0"/>
                <a:ea typeface="Heebo Light" pitchFamily="34" charset="-122"/>
                <a:cs typeface="Times New Roman" panose="02020603050405020304" pitchFamily="18" charset="0"/>
              </a:rPr>
              <a:t> số sinh viên:</a:t>
            </a:r>
            <a:r>
              <a:rPr lang="en-US" sz="2800" dirty="0">
                <a:solidFill>
                  <a:srgbClr val="DCD7E5"/>
                </a:solidFill>
                <a:latin typeface="Times New Roman" panose="02020603050405020304" pitchFamily="18" charset="0"/>
                <a:ea typeface="Heebo Light" pitchFamily="34" charset="-122"/>
                <a:cs typeface="Times New Roman" panose="02020603050405020304" pitchFamily="18" charset="0"/>
              </a:rPr>
              <a:t> K225480106016 – Lớp: K58KTP.</a:t>
            </a:r>
            <a:endParaRPr lang="en-US" sz="2800" dirty="0">
              <a:latin typeface="Times New Roman" panose="02020603050405020304" pitchFamily="18" charset="0"/>
              <a:cs typeface="Times New Roman" panose="02020603050405020304" pitchFamily="18" charset="0"/>
            </a:endParaRPr>
          </a:p>
        </p:txBody>
      </p:sp>
      <p:sp>
        <p:nvSpPr>
          <p:cNvPr id="7" name="Text 5"/>
          <p:cNvSpPr/>
          <p:nvPr/>
        </p:nvSpPr>
        <p:spPr>
          <a:xfrm>
            <a:off x="213927" y="6405561"/>
            <a:ext cx="13042821" cy="362903"/>
          </a:xfrm>
          <a:prstGeom prst="rect">
            <a:avLst/>
          </a:prstGeom>
          <a:noFill/>
          <a:ln/>
        </p:spPr>
        <p:txBody>
          <a:bodyPr wrap="none" lIns="0" tIns="0" rIns="0" bIns="0" rtlCol="0" anchor="t"/>
          <a:lstStyle/>
          <a:p>
            <a:pPr marL="0" indent="0" algn="l">
              <a:lnSpc>
                <a:spcPts val="2850"/>
              </a:lnSpc>
              <a:buNone/>
            </a:pPr>
            <a:r>
              <a:rPr lang="vi-VN" sz="2800" dirty="0">
                <a:solidFill>
                  <a:srgbClr val="DCD7E5"/>
                </a:solidFill>
                <a:latin typeface="Times New Roman" panose="02020603050405020304" pitchFamily="18" charset="0"/>
                <a:ea typeface="Heebo Light" pitchFamily="34" charset="-122"/>
                <a:cs typeface="Times New Roman" panose="02020603050405020304" pitchFamily="18" charset="0"/>
              </a:rPr>
              <a:t>	</a:t>
            </a:r>
            <a:r>
              <a:rPr lang="en-US" sz="2800" dirty="0">
                <a:solidFill>
                  <a:srgbClr val="DCD7E5"/>
                </a:solidFill>
                <a:latin typeface="Times New Roman" panose="02020603050405020304" pitchFamily="18" charset="0"/>
                <a:ea typeface="Heebo Light" pitchFamily="34" charset="-122"/>
                <a:cs typeface="Times New Roman" panose="02020603050405020304" pitchFamily="18" charset="0"/>
              </a:rPr>
              <a:t>Trường Đại học Kỹ thuật Công nghiệp Thái Nguyên.</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43765"/>
            <a:ext cx="13042820" cy="708779"/>
          </a:xfrm>
          <a:prstGeom prst="rect">
            <a:avLst/>
          </a:prstGeom>
          <a:noFill/>
          <a:ln/>
        </p:spPr>
        <p:txBody>
          <a:bodyPr wrap="none" lIns="0" tIns="0" rIns="0" bIns="0" rtlCol="0" anchor="t"/>
          <a:lstStyle/>
          <a:p>
            <a:pPr marL="0" indent="0" algn="ctr">
              <a:lnSpc>
                <a:spcPts val="5550"/>
              </a:lnSpc>
              <a:buNone/>
            </a:pPr>
            <a:r>
              <a:rPr lang="en-US" sz="5400" dirty="0">
                <a:solidFill>
                  <a:srgbClr val="F2F0F4"/>
                </a:solidFill>
                <a:latin typeface="Times New Roman" panose="02020603050405020304" pitchFamily="18" charset="0"/>
                <a:ea typeface="Montserrat" pitchFamily="34" charset="-122"/>
                <a:cs typeface="Times New Roman" panose="02020603050405020304" pitchFamily="18" charset="0"/>
              </a:rPr>
              <a:t>Lý do chọn đề tài</a:t>
            </a:r>
            <a:endParaRPr lang="en-US" sz="5400" dirty="0">
              <a:latin typeface="Times New Roman" panose="02020603050405020304" pitchFamily="18" charset="0"/>
              <a:cs typeface="Times New Roman" panose="02020603050405020304" pitchFamily="18" charset="0"/>
            </a:endParaRPr>
          </a:p>
        </p:txBody>
      </p:sp>
      <p:sp>
        <p:nvSpPr>
          <p:cNvPr id="3" name="Text 1"/>
          <p:cNvSpPr/>
          <p:nvPr/>
        </p:nvSpPr>
        <p:spPr>
          <a:xfrm>
            <a:off x="793790" y="6596538"/>
            <a:ext cx="13042821" cy="1088708"/>
          </a:xfrm>
          <a:prstGeom prst="rect">
            <a:avLst/>
          </a:prstGeom>
          <a:noFill/>
          <a:ln/>
        </p:spPr>
        <p:txBody>
          <a:bodyPr wrap="square" lIns="0" tIns="0" rIns="0" bIns="0" rtlCol="0" anchor="t"/>
          <a:lstStyle/>
          <a:p>
            <a:pPr marL="0" indent="0" algn="l">
              <a:lnSpc>
                <a:spcPts val="2850"/>
              </a:lnSpc>
              <a:buNone/>
            </a:pPr>
            <a:endParaRPr lang="en-US" sz="2400" dirty="0">
              <a:latin typeface="Times New Roman" panose="02020603050405020304" pitchFamily="18" charset="0"/>
              <a:cs typeface="Times New Roman" panose="02020603050405020304" pitchFamily="18" charset="0"/>
            </a:endParaRPr>
          </a:p>
        </p:txBody>
      </p:sp>
      <p:sp>
        <p:nvSpPr>
          <p:cNvPr id="4" name="Text 2"/>
          <p:cNvSpPr/>
          <p:nvPr/>
        </p:nvSpPr>
        <p:spPr>
          <a:xfrm>
            <a:off x="793789" y="5006897"/>
            <a:ext cx="13042821" cy="1451610"/>
          </a:xfrm>
          <a:prstGeom prst="rect">
            <a:avLst/>
          </a:prstGeom>
          <a:noFill/>
          <a:ln/>
        </p:spPr>
        <p:txBody>
          <a:bodyPr wrap="square" lIns="0" tIns="0" rIns="0" bIns="0" rtlCol="0" anchor="t"/>
          <a:lstStyle/>
          <a:p>
            <a:pPr marL="0" indent="0" algn="l">
              <a:lnSpc>
                <a:spcPts val="2850"/>
              </a:lnSpc>
              <a:buNone/>
            </a:pPr>
            <a:endParaRPr lang="en-US" sz="2400"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5A2E3097-05AC-B0D7-58E9-1F6E69F2CBE6}"/>
              </a:ext>
            </a:extLst>
          </p:cNvPr>
          <p:cNvSpPr>
            <a:spLocks noChangeArrowheads="1"/>
          </p:cNvSpPr>
          <p:nvPr/>
        </p:nvSpPr>
        <p:spPr bwMode="auto">
          <a:xfrm>
            <a:off x="753733" y="2610508"/>
            <a:ext cx="13122932" cy="438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vi-VN"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Xu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hướng</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tương</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tác</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tự</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nhiên</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Thay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thế</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các</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thiết</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bị</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vật</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lý</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chuột</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bàn</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phím</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bằng</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cử</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chỉ</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hình</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thể</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thông</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qua Trí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tuệ</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nhân</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tạo</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và</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Thị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giác</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máy</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tính</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a:t>
            </a:r>
            <a:endParaRPr kumimoji="0" lang="vi-VN"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vi-VN"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Tính</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ứng</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dụng</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thực</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tiễn</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Công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nghệ</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nhận</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diện</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bàn</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tay</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là</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nền</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tảng</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cho</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điều</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khiển</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không</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chạm</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trong</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y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tế</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hỗ</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trợ</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người</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khuyết</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tật</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và</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thực</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tế</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ảo</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a:t>
            </a:r>
            <a:endParaRPr kumimoji="0" lang="vi-VN"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vi-VN"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Mục</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tiêu</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học</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tập</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Hiện</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thực</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hóa</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lý</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thuyết</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học</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phần</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AI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và</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Học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máy</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vào</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sản</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phẩm</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thực</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tế</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để</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củng</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cố</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kỹ</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năng</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lập</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trình</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và</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xử</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lý</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dữ</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liệu</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a:t>
            </a:r>
            <a:endParaRPr kumimoji="0" lang="vi-VN"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vi-VN"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Lựa</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chọn</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bài</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toán</a:t>
            </a:r>
            <a:r>
              <a:rPr kumimoji="0" lang="en-US" altLang="en-US" sz="24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Xây</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dựng</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game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Búa</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Kéo</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 Bao"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để</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kiểm</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chứng</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khả</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năng</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nhận</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diện</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và</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phản</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hồi</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của</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hệ</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thống</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theo</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thời</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gian</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4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thực</a:t>
            </a:r>
            <a:r>
              <a:rPr kumimoji="0" lang="en-US" altLang="en-US" sz="24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71315"/>
            <a:ext cx="13042820" cy="637937"/>
          </a:xfrm>
          <a:prstGeom prst="rect">
            <a:avLst/>
          </a:prstGeom>
          <a:noFill/>
          <a:ln/>
        </p:spPr>
        <p:txBody>
          <a:bodyPr wrap="none" lIns="0" tIns="0" rIns="0" bIns="0" rtlCol="0" anchor="t"/>
          <a:lstStyle/>
          <a:p>
            <a:pPr marL="0" indent="0" algn="ctr">
              <a:lnSpc>
                <a:spcPts val="5000"/>
              </a:lnSpc>
              <a:buNone/>
            </a:pPr>
            <a:r>
              <a:rPr lang="en-US" sz="5400" dirty="0">
                <a:solidFill>
                  <a:srgbClr val="F2F0F4"/>
                </a:solidFill>
                <a:latin typeface="Times New Roman" panose="02020603050405020304" pitchFamily="18" charset="0"/>
                <a:ea typeface="Montserrat" pitchFamily="34" charset="-122"/>
                <a:cs typeface="Times New Roman" panose="02020603050405020304" pitchFamily="18" charset="0"/>
              </a:rPr>
              <a:t>Mục tiêu của đề tài</a:t>
            </a:r>
            <a:endParaRPr lang="en-US" sz="5400" dirty="0">
              <a:latin typeface="Times New Roman" panose="02020603050405020304" pitchFamily="18" charset="0"/>
              <a:cs typeface="Times New Roman" panose="02020603050405020304" pitchFamily="18" charset="0"/>
            </a:endParaRPr>
          </a:p>
        </p:txBody>
      </p:sp>
      <p:sp>
        <p:nvSpPr>
          <p:cNvPr id="3" name="Text 1"/>
          <p:cNvSpPr/>
          <p:nvPr/>
        </p:nvSpPr>
        <p:spPr>
          <a:xfrm>
            <a:off x="793790" y="1687830"/>
            <a:ext cx="13042821" cy="310277"/>
          </a:xfrm>
          <a:prstGeom prst="rect">
            <a:avLst/>
          </a:prstGeom>
          <a:noFill/>
          <a:ln/>
        </p:spPr>
        <p:txBody>
          <a:bodyPr wrap="none" lIns="0" tIns="0" rIns="0" bIns="0" rtlCol="0" anchor="t"/>
          <a:lstStyle/>
          <a:p>
            <a:pPr marL="0" indent="0" algn="just">
              <a:lnSpc>
                <a:spcPts val="2400"/>
              </a:lnSpc>
              <a:buNone/>
            </a:pPr>
            <a:r>
              <a:rPr lang="en-US" sz="2000" dirty="0">
                <a:solidFill>
                  <a:srgbClr val="DCD7E5"/>
                </a:solidFill>
                <a:latin typeface="Times New Roman" panose="02020603050405020304" pitchFamily="18" charset="0"/>
                <a:ea typeface="Heebo Light" pitchFamily="34" charset="-122"/>
                <a:cs typeface="Times New Roman" panose="02020603050405020304" pitchFamily="18" charset="0"/>
              </a:rPr>
              <a:t>Dự án được triển khai với bốn mục tiêu cốt lõi mang tính toàn diện:</a:t>
            </a:r>
            <a:endParaRPr lang="en-US" sz="2000" dirty="0">
              <a:latin typeface="Times New Roman" panose="02020603050405020304" pitchFamily="18" charset="0"/>
              <a:cs typeface="Times New Roman" panose="02020603050405020304" pitchFamily="18" charset="0"/>
            </a:endParaRPr>
          </a:p>
        </p:txBody>
      </p:sp>
      <p:sp>
        <p:nvSpPr>
          <p:cNvPr id="4" name="Shape 2"/>
          <p:cNvSpPr/>
          <p:nvPr/>
        </p:nvSpPr>
        <p:spPr>
          <a:xfrm>
            <a:off x="793790" y="2204799"/>
            <a:ext cx="6429494" cy="2579251"/>
          </a:xfrm>
          <a:prstGeom prst="roundRect">
            <a:avLst>
              <a:gd name="adj" fmla="val 3324"/>
            </a:avLst>
          </a:prstGeom>
          <a:solidFill>
            <a:srgbClr val="31136C"/>
          </a:solidFill>
          <a:ln w="7620">
            <a:solidFill>
              <a:srgbClr val="4A2C85"/>
            </a:solidFill>
            <a:prstDash val="solid"/>
          </a:ln>
        </p:spPr>
      </p:sp>
      <p:pic>
        <p:nvPicPr>
          <p:cNvPr id="5" name="Image 0" descr="preencoded.png"/>
          <p:cNvPicPr>
            <a:picLocks noChangeAspect="1"/>
          </p:cNvPicPr>
          <p:nvPr/>
        </p:nvPicPr>
        <p:blipFill>
          <a:blip r:embed="rId3"/>
          <a:stretch>
            <a:fillRect/>
          </a:stretch>
        </p:blipFill>
        <p:spPr>
          <a:xfrm>
            <a:off x="1005483" y="2416493"/>
            <a:ext cx="612338" cy="612338"/>
          </a:xfrm>
          <a:prstGeom prst="rect">
            <a:avLst/>
          </a:prstGeom>
        </p:spPr>
      </p:pic>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73837" y="2584847"/>
            <a:ext cx="275511" cy="275511"/>
          </a:xfrm>
          <a:prstGeom prst="rect">
            <a:avLst/>
          </a:prstGeom>
        </p:spPr>
      </p:pic>
      <p:sp>
        <p:nvSpPr>
          <p:cNvPr id="7" name="Text 3"/>
          <p:cNvSpPr/>
          <p:nvPr/>
        </p:nvSpPr>
        <p:spPr>
          <a:xfrm>
            <a:off x="1005483" y="3212544"/>
            <a:ext cx="2551748" cy="318849"/>
          </a:xfrm>
          <a:prstGeom prst="rect">
            <a:avLst/>
          </a:prstGeom>
          <a:noFill/>
          <a:ln/>
        </p:spPr>
        <p:txBody>
          <a:bodyPr wrap="none" lIns="0" tIns="0" rIns="0" bIns="0" rtlCol="0" anchor="t"/>
          <a:lstStyle/>
          <a:p>
            <a:pPr marL="0" indent="0" algn="just">
              <a:lnSpc>
                <a:spcPts val="2500"/>
              </a:lnSpc>
              <a:buNone/>
            </a:pPr>
            <a:r>
              <a:rPr lang="en-US" sz="2800" dirty="0">
                <a:solidFill>
                  <a:srgbClr val="DCD7E5"/>
                </a:solidFill>
                <a:latin typeface="Times New Roman" panose="02020603050405020304" pitchFamily="18" charset="0"/>
                <a:ea typeface="Montserrat" pitchFamily="34" charset="-122"/>
                <a:cs typeface="Times New Roman" panose="02020603050405020304" pitchFamily="18" charset="0"/>
              </a:rPr>
              <a:t>Về Thuật toán</a:t>
            </a:r>
            <a:endParaRPr lang="en-US" sz="2800" dirty="0">
              <a:latin typeface="Times New Roman" panose="02020603050405020304" pitchFamily="18" charset="0"/>
              <a:cs typeface="Times New Roman" panose="02020603050405020304" pitchFamily="18" charset="0"/>
            </a:endParaRPr>
          </a:p>
        </p:txBody>
      </p:sp>
      <p:sp>
        <p:nvSpPr>
          <p:cNvPr id="8" name="Text 4"/>
          <p:cNvSpPr/>
          <p:nvPr/>
        </p:nvSpPr>
        <p:spPr>
          <a:xfrm>
            <a:off x="1005483" y="3641527"/>
            <a:ext cx="6006108" cy="930831"/>
          </a:xfrm>
          <a:prstGeom prst="rect">
            <a:avLst/>
          </a:prstGeom>
          <a:noFill/>
          <a:ln/>
        </p:spPr>
        <p:txBody>
          <a:bodyPr wrap="square" lIns="0" tIns="0" rIns="0" bIns="0" rtlCol="0" anchor="t"/>
          <a:lstStyle/>
          <a:p>
            <a:pPr marL="0" indent="0" algn="just">
              <a:lnSpc>
                <a:spcPts val="2400"/>
              </a:lnSpc>
              <a:buNone/>
            </a:pPr>
            <a:r>
              <a:rPr lang="en-US" sz="2000" dirty="0">
                <a:solidFill>
                  <a:srgbClr val="DCD7E5"/>
                </a:solidFill>
                <a:latin typeface="Times New Roman" panose="02020603050405020304" pitchFamily="18" charset="0"/>
                <a:ea typeface="Heebo Light" pitchFamily="34" charset="-122"/>
                <a:cs typeface="Times New Roman" panose="02020603050405020304" pitchFamily="18" charset="0"/>
              </a:rPr>
              <a:t>Nghiên cứu và tích hợp sâu thư viện MediaPipe để xây dựng bộ khung 21 điểm landmark trên bàn tay với độ chính xác và tốc độ phản hồi tối ưu (Real-time).</a:t>
            </a:r>
            <a:endParaRPr lang="en-US" sz="2000" dirty="0">
              <a:latin typeface="Times New Roman" panose="02020603050405020304" pitchFamily="18" charset="0"/>
              <a:cs typeface="Times New Roman" panose="02020603050405020304" pitchFamily="18" charset="0"/>
            </a:endParaRPr>
          </a:p>
        </p:txBody>
      </p:sp>
      <p:sp>
        <p:nvSpPr>
          <p:cNvPr id="9" name="Shape 5"/>
          <p:cNvSpPr/>
          <p:nvPr/>
        </p:nvSpPr>
        <p:spPr>
          <a:xfrm>
            <a:off x="7406997" y="2204799"/>
            <a:ext cx="6429613" cy="2579251"/>
          </a:xfrm>
          <a:prstGeom prst="roundRect">
            <a:avLst>
              <a:gd name="adj" fmla="val 3324"/>
            </a:avLst>
          </a:prstGeom>
          <a:solidFill>
            <a:srgbClr val="31136C"/>
          </a:solidFill>
          <a:ln w="7620">
            <a:solidFill>
              <a:srgbClr val="4A2C85"/>
            </a:solidFill>
            <a:prstDash val="solid"/>
          </a:ln>
        </p:spPr>
      </p:sp>
      <p:pic>
        <p:nvPicPr>
          <p:cNvPr id="10" name="Image 2" descr="preencoded.png"/>
          <p:cNvPicPr>
            <a:picLocks noChangeAspect="1"/>
          </p:cNvPicPr>
          <p:nvPr/>
        </p:nvPicPr>
        <p:blipFill>
          <a:blip r:embed="rId6"/>
          <a:stretch>
            <a:fillRect/>
          </a:stretch>
        </p:blipFill>
        <p:spPr>
          <a:xfrm>
            <a:off x="7618690" y="2416493"/>
            <a:ext cx="612338" cy="612338"/>
          </a:xfrm>
          <a:prstGeom prst="rect">
            <a:avLst/>
          </a:prstGeom>
        </p:spPr>
      </p:pic>
      <p:pic>
        <p:nvPicPr>
          <p:cNvPr id="11"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87045" y="2584847"/>
            <a:ext cx="275511" cy="275511"/>
          </a:xfrm>
          <a:prstGeom prst="rect">
            <a:avLst/>
          </a:prstGeom>
        </p:spPr>
      </p:pic>
      <p:sp>
        <p:nvSpPr>
          <p:cNvPr id="12" name="Text 6"/>
          <p:cNvSpPr/>
          <p:nvPr/>
        </p:nvSpPr>
        <p:spPr>
          <a:xfrm>
            <a:off x="7618689" y="3144166"/>
            <a:ext cx="2551748" cy="318849"/>
          </a:xfrm>
          <a:prstGeom prst="rect">
            <a:avLst/>
          </a:prstGeom>
          <a:noFill/>
          <a:ln/>
        </p:spPr>
        <p:txBody>
          <a:bodyPr wrap="none" lIns="0" tIns="0" rIns="0" bIns="0" rtlCol="0" anchor="t"/>
          <a:lstStyle/>
          <a:p>
            <a:pPr marL="0" indent="0" algn="just">
              <a:lnSpc>
                <a:spcPts val="2500"/>
              </a:lnSpc>
              <a:buNone/>
            </a:pPr>
            <a:r>
              <a:rPr lang="en-US" sz="2800" dirty="0">
                <a:solidFill>
                  <a:srgbClr val="DCD7E5"/>
                </a:solidFill>
                <a:latin typeface="Times New Roman" panose="02020603050405020304" pitchFamily="18" charset="0"/>
                <a:ea typeface="Montserrat" pitchFamily="34" charset="-122"/>
                <a:cs typeface="Times New Roman" panose="02020603050405020304" pitchFamily="18" charset="0"/>
              </a:rPr>
              <a:t>Về Xử lý Logic</a:t>
            </a:r>
            <a:endParaRPr lang="en-US" sz="2800" dirty="0">
              <a:latin typeface="Times New Roman" panose="02020603050405020304" pitchFamily="18" charset="0"/>
              <a:cs typeface="Times New Roman" panose="02020603050405020304" pitchFamily="18" charset="0"/>
            </a:endParaRPr>
          </a:p>
        </p:txBody>
      </p:sp>
      <p:sp>
        <p:nvSpPr>
          <p:cNvPr id="13" name="Text 7"/>
          <p:cNvSpPr/>
          <p:nvPr/>
        </p:nvSpPr>
        <p:spPr>
          <a:xfrm>
            <a:off x="7618689" y="3505795"/>
            <a:ext cx="6006227" cy="1310877"/>
          </a:xfrm>
          <a:prstGeom prst="rect">
            <a:avLst/>
          </a:prstGeom>
          <a:noFill/>
          <a:ln/>
        </p:spPr>
        <p:txBody>
          <a:bodyPr wrap="square" lIns="0" tIns="0" rIns="0" bIns="0" rtlCol="0" anchor="t"/>
          <a:lstStyle/>
          <a:p>
            <a:pPr marL="0" indent="0" algn="just">
              <a:lnSpc>
                <a:spcPts val="2400"/>
              </a:lnSpc>
              <a:buNone/>
            </a:pPr>
            <a:r>
              <a:rPr lang="en-US" sz="2000" dirty="0">
                <a:solidFill>
                  <a:srgbClr val="DCD7E5"/>
                </a:solidFill>
                <a:latin typeface="Times New Roman" panose="02020603050405020304" pitchFamily="18" charset="0"/>
                <a:ea typeface="Heebo Light" pitchFamily="34" charset="-122"/>
                <a:cs typeface="Times New Roman" panose="02020603050405020304" pitchFamily="18" charset="0"/>
              </a:rPr>
              <a:t>Thiết kế thuật toán phân loại cử chỉ dựa trên tập luật (Rule-based) để giảm thiểu tối đa tài nguyên tính toán phần cứng mà vẫn đảm bảo tính chính xác vượt trội so với các phương pháp truyền thống.</a:t>
            </a:r>
            <a:endParaRPr lang="en-US" sz="2000" dirty="0">
              <a:latin typeface="Times New Roman" panose="02020603050405020304" pitchFamily="18" charset="0"/>
              <a:cs typeface="Times New Roman" panose="02020603050405020304" pitchFamily="18" charset="0"/>
            </a:endParaRPr>
          </a:p>
        </p:txBody>
      </p:sp>
      <p:sp>
        <p:nvSpPr>
          <p:cNvPr id="14" name="Shape 8"/>
          <p:cNvSpPr/>
          <p:nvPr/>
        </p:nvSpPr>
        <p:spPr>
          <a:xfrm>
            <a:off x="793790" y="4967764"/>
            <a:ext cx="6429494" cy="2579251"/>
          </a:xfrm>
          <a:prstGeom prst="roundRect">
            <a:avLst>
              <a:gd name="adj" fmla="val 3324"/>
            </a:avLst>
          </a:prstGeom>
          <a:solidFill>
            <a:srgbClr val="31136C"/>
          </a:solidFill>
          <a:ln w="7620">
            <a:solidFill>
              <a:srgbClr val="4A2C85"/>
            </a:solidFill>
            <a:prstDash val="solid"/>
          </a:ln>
        </p:spPr>
      </p:sp>
      <p:pic>
        <p:nvPicPr>
          <p:cNvPr id="15" name="Image 4" descr="preencoded.png"/>
          <p:cNvPicPr>
            <a:picLocks noChangeAspect="1"/>
          </p:cNvPicPr>
          <p:nvPr/>
        </p:nvPicPr>
        <p:blipFill>
          <a:blip r:embed="rId9"/>
          <a:stretch>
            <a:fillRect/>
          </a:stretch>
        </p:blipFill>
        <p:spPr>
          <a:xfrm>
            <a:off x="1005483" y="5179457"/>
            <a:ext cx="612338" cy="612338"/>
          </a:xfrm>
          <a:prstGeom prst="rect">
            <a:avLst/>
          </a:prstGeom>
        </p:spPr>
      </p:pic>
      <p:pic>
        <p:nvPicPr>
          <p:cNvPr id="16"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73837" y="5347811"/>
            <a:ext cx="275511" cy="275511"/>
          </a:xfrm>
          <a:prstGeom prst="rect">
            <a:avLst/>
          </a:prstGeom>
        </p:spPr>
      </p:pic>
      <p:sp>
        <p:nvSpPr>
          <p:cNvPr id="17" name="Text 9"/>
          <p:cNvSpPr/>
          <p:nvPr/>
        </p:nvSpPr>
        <p:spPr>
          <a:xfrm>
            <a:off x="1005483" y="5975509"/>
            <a:ext cx="3486626" cy="318849"/>
          </a:xfrm>
          <a:prstGeom prst="rect">
            <a:avLst/>
          </a:prstGeom>
          <a:noFill/>
          <a:ln/>
        </p:spPr>
        <p:txBody>
          <a:bodyPr wrap="none" lIns="0" tIns="0" rIns="0" bIns="0" rtlCol="0" anchor="t"/>
          <a:lstStyle/>
          <a:p>
            <a:pPr marL="0" indent="0" algn="just">
              <a:lnSpc>
                <a:spcPts val="2500"/>
              </a:lnSpc>
              <a:buNone/>
            </a:pPr>
            <a:r>
              <a:rPr lang="en-US" sz="2800" dirty="0">
                <a:solidFill>
                  <a:srgbClr val="DCD7E5"/>
                </a:solidFill>
                <a:latin typeface="Times New Roman" panose="02020603050405020304" pitchFamily="18" charset="0"/>
                <a:ea typeface="Montserrat" pitchFamily="34" charset="-122"/>
                <a:cs typeface="Times New Roman" panose="02020603050405020304" pitchFamily="18" charset="0"/>
              </a:rPr>
              <a:t>Về Trải nghiệm người dùng</a:t>
            </a:r>
            <a:endParaRPr lang="en-US" sz="2800" dirty="0">
              <a:latin typeface="Times New Roman" panose="02020603050405020304" pitchFamily="18" charset="0"/>
              <a:cs typeface="Times New Roman" panose="02020603050405020304" pitchFamily="18" charset="0"/>
            </a:endParaRPr>
          </a:p>
        </p:txBody>
      </p:sp>
      <p:sp>
        <p:nvSpPr>
          <p:cNvPr id="18" name="Text 10"/>
          <p:cNvSpPr/>
          <p:nvPr/>
        </p:nvSpPr>
        <p:spPr>
          <a:xfrm>
            <a:off x="1005483" y="6404491"/>
            <a:ext cx="6006108" cy="620554"/>
          </a:xfrm>
          <a:prstGeom prst="rect">
            <a:avLst/>
          </a:prstGeom>
          <a:noFill/>
          <a:ln/>
        </p:spPr>
        <p:txBody>
          <a:bodyPr wrap="square" lIns="0" tIns="0" rIns="0" bIns="0" rtlCol="0" anchor="t"/>
          <a:lstStyle/>
          <a:p>
            <a:pPr marL="0" indent="0" algn="just">
              <a:lnSpc>
                <a:spcPts val="2400"/>
              </a:lnSpc>
              <a:buNone/>
            </a:pPr>
            <a:r>
              <a:rPr lang="en-US" sz="2000" dirty="0">
                <a:solidFill>
                  <a:srgbClr val="DCD7E5"/>
                </a:solidFill>
                <a:latin typeface="Times New Roman" panose="02020603050405020304" pitchFamily="18" charset="0"/>
                <a:ea typeface="Heebo Light" pitchFamily="34" charset="-122"/>
                <a:cs typeface="Times New Roman" panose="02020603050405020304" pitchFamily="18" charset="0"/>
              </a:rPr>
              <a:t>Lập trình giao diện Web đồ họa trực quan, sinh động với các hiệu ứng tương tác thời gian thực, tạo sự hứng thú cho người chơi.</a:t>
            </a:r>
            <a:endParaRPr lang="en-US" sz="2000" dirty="0">
              <a:latin typeface="Times New Roman" panose="02020603050405020304" pitchFamily="18" charset="0"/>
              <a:cs typeface="Times New Roman" panose="02020603050405020304" pitchFamily="18" charset="0"/>
            </a:endParaRPr>
          </a:p>
        </p:txBody>
      </p:sp>
      <p:sp>
        <p:nvSpPr>
          <p:cNvPr id="19" name="Shape 11"/>
          <p:cNvSpPr/>
          <p:nvPr/>
        </p:nvSpPr>
        <p:spPr>
          <a:xfrm>
            <a:off x="7406997" y="4967764"/>
            <a:ext cx="6429613" cy="2579251"/>
          </a:xfrm>
          <a:prstGeom prst="roundRect">
            <a:avLst>
              <a:gd name="adj" fmla="val 3324"/>
            </a:avLst>
          </a:prstGeom>
          <a:solidFill>
            <a:srgbClr val="31136C"/>
          </a:solidFill>
          <a:ln w="7620">
            <a:solidFill>
              <a:srgbClr val="4A2C85"/>
            </a:solidFill>
            <a:prstDash val="solid"/>
          </a:ln>
        </p:spPr>
      </p:sp>
      <p:pic>
        <p:nvPicPr>
          <p:cNvPr id="20" name="Image 6" descr="preencoded.png"/>
          <p:cNvPicPr>
            <a:picLocks noChangeAspect="1"/>
          </p:cNvPicPr>
          <p:nvPr/>
        </p:nvPicPr>
        <p:blipFill>
          <a:blip r:embed="rId12"/>
          <a:stretch>
            <a:fillRect/>
          </a:stretch>
        </p:blipFill>
        <p:spPr>
          <a:xfrm>
            <a:off x="7618690" y="5179457"/>
            <a:ext cx="612338" cy="612338"/>
          </a:xfrm>
          <a:prstGeom prst="rect">
            <a:avLst/>
          </a:prstGeom>
        </p:spPr>
      </p:pic>
      <p:pic>
        <p:nvPicPr>
          <p:cNvPr id="21"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787045" y="5347811"/>
            <a:ext cx="275511" cy="275511"/>
          </a:xfrm>
          <a:prstGeom prst="rect">
            <a:avLst/>
          </a:prstGeom>
        </p:spPr>
      </p:pic>
      <p:sp>
        <p:nvSpPr>
          <p:cNvPr id="22" name="Text 12"/>
          <p:cNvSpPr/>
          <p:nvPr/>
        </p:nvSpPr>
        <p:spPr>
          <a:xfrm>
            <a:off x="7618690" y="5975509"/>
            <a:ext cx="2675334" cy="318849"/>
          </a:xfrm>
          <a:prstGeom prst="rect">
            <a:avLst/>
          </a:prstGeom>
          <a:noFill/>
          <a:ln/>
        </p:spPr>
        <p:txBody>
          <a:bodyPr wrap="none" lIns="0" tIns="0" rIns="0" bIns="0" rtlCol="0" anchor="t"/>
          <a:lstStyle/>
          <a:p>
            <a:pPr marL="0" indent="0" algn="just">
              <a:lnSpc>
                <a:spcPts val="2500"/>
              </a:lnSpc>
              <a:buNone/>
            </a:pPr>
            <a:r>
              <a:rPr lang="en-US" sz="2800" dirty="0">
                <a:solidFill>
                  <a:srgbClr val="DCD7E5"/>
                </a:solidFill>
                <a:latin typeface="Times New Roman" panose="02020603050405020304" pitchFamily="18" charset="0"/>
                <a:ea typeface="Montserrat" pitchFamily="34" charset="-122"/>
                <a:cs typeface="Times New Roman" panose="02020603050405020304" pitchFamily="18" charset="0"/>
              </a:rPr>
              <a:t>Về Quản trị hệ thống</a:t>
            </a:r>
            <a:endParaRPr lang="en-US" sz="2800" dirty="0">
              <a:latin typeface="Times New Roman" panose="02020603050405020304" pitchFamily="18" charset="0"/>
              <a:cs typeface="Times New Roman" panose="02020603050405020304" pitchFamily="18" charset="0"/>
            </a:endParaRPr>
          </a:p>
        </p:txBody>
      </p:sp>
      <p:sp>
        <p:nvSpPr>
          <p:cNvPr id="23" name="Text 13"/>
          <p:cNvSpPr/>
          <p:nvPr/>
        </p:nvSpPr>
        <p:spPr>
          <a:xfrm>
            <a:off x="7618690" y="6404491"/>
            <a:ext cx="6006227" cy="930831"/>
          </a:xfrm>
          <a:prstGeom prst="rect">
            <a:avLst/>
          </a:prstGeom>
          <a:noFill/>
          <a:ln/>
        </p:spPr>
        <p:txBody>
          <a:bodyPr wrap="square" lIns="0" tIns="0" rIns="0" bIns="0" rtlCol="0" anchor="t"/>
          <a:lstStyle/>
          <a:p>
            <a:pPr marL="0" indent="0" algn="just">
              <a:lnSpc>
                <a:spcPts val="2400"/>
              </a:lnSpc>
              <a:buNone/>
            </a:pPr>
            <a:r>
              <a:rPr lang="en-US" sz="2000" dirty="0">
                <a:solidFill>
                  <a:srgbClr val="DCD7E5"/>
                </a:solidFill>
                <a:latin typeface="Times New Roman" panose="02020603050405020304" pitchFamily="18" charset="0"/>
                <a:ea typeface="Heebo Light" pitchFamily="34" charset="-122"/>
                <a:cs typeface="Times New Roman" panose="02020603050405020304" pitchFamily="18" charset="0"/>
              </a:rPr>
              <a:t>Xây dựng hệ thống Backend hoàn chỉnh sử dụng Flask và SQL Server để quản lý danh tính người dùng và lưu trữ bền vững lịch sử thi đấu.</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670" y="892552"/>
            <a:ext cx="13042821" cy="708779"/>
          </a:xfrm>
          <a:prstGeom prst="rect">
            <a:avLst/>
          </a:prstGeom>
          <a:noFill/>
          <a:ln/>
        </p:spPr>
        <p:txBody>
          <a:bodyPr wrap="none" lIns="0" tIns="0" rIns="0" bIns="0" rtlCol="0" anchor="t"/>
          <a:lstStyle/>
          <a:p>
            <a:pPr marL="0" indent="0" algn="ctr">
              <a:lnSpc>
                <a:spcPts val="5550"/>
              </a:lnSpc>
              <a:buNone/>
            </a:pPr>
            <a:r>
              <a:rPr lang="en-US" sz="5400" dirty="0">
                <a:solidFill>
                  <a:srgbClr val="F2F0F4"/>
                </a:solidFill>
                <a:latin typeface="Times New Roman" panose="02020603050405020304" pitchFamily="18" charset="0"/>
                <a:ea typeface="Montserrat" pitchFamily="34" charset="-122"/>
                <a:cs typeface="Times New Roman" panose="02020603050405020304" pitchFamily="18" charset="0"/>
              </a:rPr>
              <a:t>Cơ sở lý thuyết - Công nghệ MediaPipe</a:t>
            </a:r>
            <a:endParaRPr lang="en-US" sz="5400" dirty="0">
              <a:latin typeface="Times New Roman" panose="02020603050405020304" pitchFamily="18" charset="0"/>
              <a:cs typeface="Times New Roman" panose="02020603050405020304" pitchFamily="18" charset="0"/>
            </a:endParaRPr>
          </a:p>
        </p:txBody>
      </p:sp>
      <p:sp>
        <p:nvSpPr>
          <p:cNvPr id="3" name="Text 1"/>
          <p:cNvSpPr/>
          <p:nvPr/>
        </p:nvSpPr>
        <p:spPr>
          <a:xfrm>
            <a:off x="793669" y="2336154"/>
            <a:ext cx="13042821" cy="725805"/>
          </a:xfrm>
          <a:prstGeom prst="rect">
            <a:avLst/>
          </a:prstGeom>
          <a:noFill/>
          <a:ln/>
        </p:spPr>
        <p:txBody>
          <a:bodyPr wrap="square" lIns="0" tIns="0" rIns="0" bIns="0" rtlCol="0" anchor="t"/>
          <a:lstStyle/>
          <a:p>
            <a:pPr marL="0" indent="0" algn="just">
              <a:lnSpc>
                <a:spcPts val="2850"/>
              </a:lnSpc>
              <a:buNone/>
            </a:pPr>
            <a:r>
              <a:rPr lang="en-US" sz="2000" dirty="0">
                <a:solidFill>
                  <a:srgbClr val="DCD7E5"/>
                </a:solidFill>
                <a:latin typeface="Times New Roman" panose="02020603050405020304" pitchFamily="18" charset="0"/>
                <a:ea typeface="Heebo Light" pitchFamily="34" charset="-122"/>
                <a:cs typeface="Times New Roman" panose="02020603050405020304" pitchFamily="18" charset="0"/>
              </a:rPr>
              <a:t>Hệ thống sử dụng MediaPipe Hands – một giải pháp thị giác máy tính tiên tiến hoạt động theo cơ chế đường ống (Pipeline) đa tầng:</a:t>
            </a:r>
            <a:endParaRPr lang="en-US" sz="2000" dirty="0">
              <a:latin typeface="Times New Roman" panose="02020603050405020304" pitchFamily="18" charset="0"/>
              <a:cs typeface="Times New Roman" panose="02020603050405020304" pitchFamily="18" charset="0"/>
            </a:endParaRPr>
          </a:p>
        </p:txBody>
      </p:sp>
      <p:sp>
        <p:nvSpPr>
          <p:cNvPr id="4" name="Text 2"/>
          <p:cNvSpPr/>
          <p:nvPr/>
        </p:nvSpPr>
        <p:spPr>
          <a:xfrm>
            <a:off x="793790" y="3502819"/>
            <a:ext cx="226814" cy="283488"/>
          </a:xfrm>
          <a:prstGeom prst="rect">
            <a:avLst/>
          </a:prstGeom>
          <a:noFill/>
          <a:ln/>
        </p:spPr>
        <p:txBody>
          <a:bodyPr wrap="non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Montserrat Light" pitchFamily="34" charset="-122"/>
                <a:cs typeface="Times New Roman" panose="02020603050405020304" pitchFamily="18" charset="0"/>
              </a:rPr>
              <a:t>01</a:t>
            </a:r>
            <a:endParaRPr lang="en-US" sz="2100" dirty="0">
              <a:latin typeface="Times New Roman" panose="02020603050405020304" pitchFamily="18" charset="0"/>
              <a:cs typeface="Times New Roman" panose="02020603050405020304" pitchFamily="18" charset="0"/>
            </a:endParaRPr>
          </a:p>
        </p:txBody>
      </p:sp>
      <p:pic>
        <p:nvPicPr>
          <p:cNvPr id="5" name="Image 0" descr="preencoded.png"/>
          <p:cNvPicPr>
            <a:picLocks noChangeAspect="1"/>
          </p:cNvPicPr>
          <p:nvPr/>
        </p:nvPicPr>
        <p:blipFill>
          <a:blip r:embed="rId3"/>
          <a:stretch>
            <a:fillRect/>
          </a:stretch>
        </p:blipFill>
        <p:spPr>
          <a:xfrm>
            <a:off x="793790" y="3857863"/>
            <a:ext cx="4196358" cy="30480"/>
          </a:xfrm>
          <a:prstGeom prst="rect">
            <a:avLst/>
          </a:prstGeom>
        </p:spPr>
      </p:pic>
      <p:sp>
        <p:nvSpPr>
          <p:cNvPr id="6" name="Text 3"/>
          <p:cNvSpPr/>
          <p:nvPr/>
        </p:nvSpPr>
        <p:spPr>
          <a:xfrm>
            <a:off x="793790" y="4032171"/>
            <a:ext cx="3604855" cy="354330"/>
          </a:xfrm>
          <a:prstGeom prst="rect">
            <a:avLst/>
          </a:prstGeom>
          <a:noFill/>
          <a:ln/>
        </p:spPr>
        <p:txBody>
          <a:bodyPr wrap="none" lIns="0" tIns="0" rIns="0" bIns="0" rtlCol="0" anchor="t"/>
          <a:lstStyle/>
          <a:p>
            <a:pPr marL="0" indent="0" algn="just">
              <a:lnSpc>
                <a:spcPts val="275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Mô hình SSD (BlazePalm)</a:t>
            </a:r>
            <a:endParaRPr lang="en-US" sz="2100" dirty="0">
              <a:latin typeface="Times New Roman" panose="02020603050405020304" pitchFamily="18" charset="0"/>
              <a:cs typeface="Times New Roman" panose="02020603050405020304" pitchFamily="18" charset="0"/>
            </a:endParaRPr>
          </a:p>
        </p:txBody>
      </p:sp>
      <p:sp>
        <p:nvSpPr>
          <p:cNvPr id="7" name="Text 4"/>
          <p:cNvSpPr/>
          <p:nvPr/>
        </p:nvSpPr>
        <p:spPr>
          <a:xfrm>
            <a:off x="793790" y="4522589"/>
            <a:ext cx="4196358" cy="2814459"/>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Đảm nhiệm vai trò dò tìm vật thể một bước. Thay vì quét toàn bộ ngón tay, mô hình này tập trung định vị lòng bàn tay (Palm detector) để khoanh vùng vùng ảnh quan tâm, giúp loại bỏ nhiễu từ hậu cảnh và giảm tải áp lực tính toán.</a:t>
            </a:r>
            <a:endParaRPr lang="en-US" sz="2100" dirty="0">
              <a:latin typeface="Times New Roman" panose="02020603050405020304" pitchFamily="18" charset="0"/>
              <a:cs typeface="Times New Roman" panose="02020603050405020304" pitchFamily="18" charset="0"/>
            </a:endParaRPr>
          </a:p>
        </p:txBody>
      </p:sp>
      <p:sp>
        <p:nvSpPr>
          <p:cNvPr id="8" name="Text 5"/>
          <p:cNvSpPr/>
          <p:nvPr/>
        </p:nvSpPr>
        <p:spPr>
          <a:xfrm>
            <a:off x="5216962" y="3502819"/>
            <a:ext cx="226814" cy="283488"/>
          </a:xfrm>
          <a:prstGeom prst="rect">
            <a:avLst/>
          </a:prstGeom>
          <a:noFill/>
          <a:ln/>
        </p:spPr>
        <p:txBody>
          <a:bodyPr wrap="non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Montserrat Light" pitchFamily="34" charset="-122"/>
                <a:cs typeface="Times New Roman" panose="02020603050405020304" pitchFamily="18" charset="0"/>
              </a:rPr>
              <a:t>02</a:t>
            </a:r>
            <a:endParaRPr lang="en-US" sz="2100" dirty="0">
              <a:latin typeface="Times New Roman" panose="02020603050405020304" pitchFamily="18" charset="0"/>
              <a:cs typeface="Times New Roman" panose="02020603050405020304" pitchFamily="18" charset="0"/>
            </a:endParaRPr>
          </a:p>
        </p:txBody>
      </p:sp>
      <p:pic>
        <p:nvPicPr>
          <p:cNvPr id="9" name="Image 1" descr="preencoded.png"/>
          <p:cNvPicPr>
            <a:picLocks noChangeAspect="1"/>
          </p:cNvPicPr>
          <p:nvPr/>
        </p:nvPicPr>
        <p:blipFill>
          <a:blip r:embed="rId3"/>
          <a:stretch>
            <a:fillRect/>
          </a:stretch>
        </p:blipFill>
        <p:spPr>
          <a:xfrm>
            <a:off x="5216962" y="3880604"/>
            <a:ext cx="4196358" cy="30480"/>
          </a:xfrm>
          <a:prstGeom prst="rect">
            <a:avLst/>
          </a:prstGeom>
        </p:spPr>
      </p:pic>
      <p:sp>
        <p:nvSpPr>
          <p:cNvPr id="10" name="Text 6"/>
          <p:cNvSpPr/>
          <p:nvPr/>
        </p:nvSpPr>
        <p:spPr>
          <a:xfrm>
            <a:off x="5216962" y="4032171"/>
            <a:ext cx="4196358" cy="708660"/>
          </a:xfrm>
          <a:prstGeom prst="rect">
            <a:avLst/>
          </a:prstGeom>
          <a:noFill/>
          <a:ln/>
        </p:spPr>
        <p:txBody>
          <a:bodyPr wrap="square" lIns="0" tIns="0" rIns="0" bIns="0" rtlCol="0" anchor="t"/>
          <a:lstStyle/>
          <a:p>
            <a:pPr marL="0" indent="0" algn="just">
              <a:lnSpc>
                <a:spcPts val="275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Mạng CNN (Hand Landmark Model)</a:t>
            </a:r>
            <a:endParaRPr lang="en-US" sz="2100" dirty="0">
              <a:latin typeface="Times New Roman" panose="02020603050405020304" pitchFamily="18" charset="0"/>
              <a:cs typeface="Times New Roman" panose="02020603050405020304" pitchFamily="18" charset="0"/>
            </a:endParaRPr>
          </a:p>
        </p:txBody>
      </p:sp>
      <p:sp>
        <p:nvSpPr>
          <p:cNvPr id="11" name="Text 7"/>
          <p:cNvSpPr/>
          <p:nvPr/>
        </p:nvSpPr>
        <p:spPr>
          <a:xfrm>
            <a:off x="5216962" y="4522589"/>
            <a:ext cx="4196358" cy="1805940"/>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Sau khi có vùng ảnh bàn tay, mạng nơ-ron tích chập sẽ thực hiện phép toán tích chập qua các lớp để nhận diện các đặc trưng hình học cục bộ.</a:t>
            </a:r>
            <a:endParaRPr lang="en-US" sz="2100" dirty="0">
              <a:latin typeface="Times New Roman" panose="02020603050405020304" pitchFamily="18" charset="0"/>
              <a:cs typeface="Times New Roman" panose="02020603050405020304" pitchFamily="18" charset="0"/>
            </a:endParaRPr>
          </a:p>
        </p:txBody>
      </p:sp>
      <p:sp>
        <p:nvSpPr>
          <p:cNvPr id="12" name="Text 8"/>
          <p:cNvSpPr/>
          <p:nvPr/>
        </p:nvSpPr>
        <p:spPr>
          <a:xfrm>
            <a:off x="9640133" y="3502819"/>
            <a:ext cx="226814" cy="283488"/>
          </a:xfrm>
          <a:prstGeom prst="rect">
            <a:avLst/>
          </a:prstGeom>
          <a:noFill/>
          <a:ln/>
        </p:spPr>
        <p:txBody>
          <a:bodyPr wrap="non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Montserrat Light" pitchFamily="34" charset="-122"/>
                <a:cs typeface="Times New Roman" panose="02020603050405020304" pitchFamily="18" charset="0"/>
              </a:rPr>
              <a:t>03</a:t>
            </a:r>
            <a:endParaRPr lang="en-US" sz="2100" dirty="0">
              <a:latin typeface="Times New Roman" panose="02020603050405020304" pitchFamily="18" charset="0"/>
              <a:cs typeface="Times New Roman" panose="02020603050405020304" pitchFamily="18" charset="0"/>
            </a:endParaRPr>
          </a:p>
        </p:txBody>
      </p:sp>
      <p:pic>
        <p:nvPicPr>
          <p:cNvPr id="13" name="Image 2" descr="preencoded.png"/>
          <p:cNvPicPr>
            <a:picLocks noChangeAspect="1"/>
          </p:cNvPicPr>
          <p:nvPr/>
        </p:nvPicPr>
        <p:blipFill>
          <a:blip r:embed="rId3"/>
          <a:stretch>
            <a:fillRect/>
          </a:stretch>
        </p:blipFill>
        <p:spPr>
          <a:xfrm>
            <a:off x="9640133" y="3880604"/>
            <a:ext cx="4196358" cy="30480"/>
          </a:xfrm>
          <a:prstGeom prst="rect">
            <a:avLst/>
          </a:prstGeom>
        </p:spPr>
      </p:pic>
      <p:sp>
        <p:nvSpPr>
          <p:cNvPr id="14" name="Text 9"/>
          <p:cNvSpPr/>
          <p:nvPr/>
        </p:nvSpPr>
        <p:spPr>
          <a:xfrm>
            <a:off x="9640133" y="4032171"/>
            <a:ext cx="2835235" cy="354330"/>
          </a:xfrm>
          <a:prstGeom prst="rect">
            <a:avLst/>
          </a:prstGeom>
          <a:noFill/>
          <a:ln/>
        </p:spPr>
        <p:txBody>
          <a:bodyPr wrap="none" lIns="0" tIns="0" rIns="0" bIns="0" rtlCol="0" anchor="t"/>
          <a:lstStyle/>
          <a:p>
            <a:pPr marL="0" indent="0" algn="just">
              <a:lnSpc>
                <a:spcPts val="275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Đầu ra</a:t>
            </a:r>
            <a:endParaRPr lang="en-US" sz="2100" dirty="0">
              <a:latin typeface="Times New Roman" panose="02020603050405020304" pitchFamily="18" charset="0"/>
              <a:cs typeface="Times New Roman" panose="02020603050405020304" pitchFamily="18" charset="0"/>
            </a:endParaRPr>
          </a:p>
        </p:txBody>
      </p:sp>
      <p:sp>
        <p:nvSpPr>
          <p:cNvPr id="15" name="Text 10"/>
          <p:cNvSpPr/>
          <p:nvPr/>
        </p:nvSpPr>
        <p:spPr>
          <a:xfrm>
            <a:off x="9640133" y="4522589"/>
            <a:ext cx="4196358" cy="1981546"/>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Kết quả cuối cùng là một mảng tọa độ 3D của 21 điểm mốc khớp xương, cung cấp dữ liệu nền tảng cho việc phân tích hành vi.</a:t>
            </a:r>
            <a:endParaRPr lang="en-US" sz="2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01408" y="709731"/>
            <a:ext cx="13042822" cy="708779"/>
          </a:xfrm>
          <a:prstGeom prst="rect">
            <a:avLst/>
          </a:prstGeom>
          <a:noFill/>
          <a:ln/>
        </p:spPr>
        <p:txBody>
          <a:bodyPr wrap="none" lIns="0" tIns="0" rIns="0" bIns="0" rtlCol="0" anchor="t"/>
          <a:lstStyle/>
          <a:p>
            <a:pPr marL="0" indent="0" algn="ctr">
              <a:lnSpc>
                <a:spcPts val="5550"/>
              </a:lnSpc>
              <a:buNone/>
            </a:pPr>
            <a:r>
              <a:rPr lang="en-US" sz="5400" dirty="0">
                <a:solidFill>
                  <a:srgbClr val="F2F0F4"/>
                </a:solidFill>
                <a:latin typeface="Times New Roman" panose="02020603050405020304" pitchFamily="18" charset="0"/>
                <a:ea typeface="Montserrat" pitchFamily="34" charset="-122"/>
                <a:cs typeface="Times New Roman" panose="02020603050405020304" pitchFamily="18" charset="0"/>
              </a:rPr>
              <a:t>Thuật toán nhận diện cử chỉ (Rule-based)</a:t>
            </a:r>
            <a:endParaRPr lang="en-US" sz="5400" dirty="0">
              <a:latin typeface="Times New Roman" panose="02020603050405020304" pitchFamily="18" charset="0"/>
              <a:cs typeface="Times New Roman" panose="02020603050405020304" pitchFamily="18" charset="0"/>
            </a:endParaRPr>
          </a:p>
        </p:txBody>
      </p:sp>
      <p:sp>
        <p:nvSpPr>
          <p:cNvPr id="3" name="Text 1"/>
          <p:cNvSpPr/>
          <p:nvPr/>
        </p:nvSpPr>
        <p:spPr>
          <a:xfrm>
            <a:off x="793790" y="2376845"/>
            <a:ext cx="13042821" cy="733425"/>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Sau khi thu nhận được 21 tọa độ landmark, em xây dựng bộ phân loại dựa trên các quy luật hình học không gian mà không cần thêm mô hình học máy bổ trợ, giúp đạt tốc độ </a:t>
            </a:r>
            <a:r>
              <a:rPr lang="en-US" sz="2100" i="1" dirty="0">
                <a:solidFill>
                  <a:srgbClr val="DCD7E5"/>
                </a:solidFill>
                <a:latin typeface="Times New Roman" panose="02020603050405020304" pitchFamily="18" charset="0"/>
                <a:ea typeface="Heebo Light" pitchFamily="34" charset="-122"/>
                <a:cs typeface="Times New Roman" panose="02020603050405020304" pitchFamily="18" charset="0"/>
              </a:rPr>
              <a:t>O(1)</a:t>
            </a: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a:t>
            </a:r>
            <a:endParaRPr lang="en-US" sz="2100" dirty="0">
              <a:latin typeface="Times New Roman" panose="02020603050405020304" pitchFamily="18" charset="0"/>
              <a:cs typeface="Times New Roman" panose="02020603050405020304" pitchFamily="18" charset="0"/>
            </a:endParaRPr>
          </a:p>
        </p:txBody>
      </p:sp>
      <p:sp>
        <p:nvSpPr>
          <p:cNvPr id="4" name="Text 2"/>
          <p:cNvSpPr/>
          <p:nvPr/>
        </p:nvSpPr>
        <p:spPr>
          <a:xfrm>
            <a:off x="793790" y="3592235"/>
            <a:ext cx="2835235" cy="354330"/>
          </a:xfrm>
          <a:prstGeom prst="rect">
            <a:avLst/>
          </a:prstGeom>
          <a:noFill/>
          <a:ln/>
        </p:spPr>
        <p:txBody>
          <a:bodyPr wrap="none" lIns="0" tIns="0" rIns="0" bIns="0" rtlCol="0" anchor="t"/>
          <a:lstStyle/>
          <a:p>
            <a:pPr marL="0" indent="0" algn="just">
              <a:lnSpc>
                <a:spcPts val="2750"/>
              </a:lnSpc>
              <a:buNone/>
            </a:pPr>
            <a:r>
              <a:rPr lang="en-US" sz="2100" dirty="0">
                <a:solidFill>
                  <a:srgbClr val="481C9E"/>
                </a:solidFill>
                <a:latin typeface="Times New Roman" panose="02020603050405020304" pitchFamily="18" charset="0"/>
                <a:ea typeface="Montserrat" pitchFamily="34" charset="-122"/>
                <a:cs typeface="Times New Roman" panose="02020603050405020304" pitchFamily="18" charset="0"/>
              </a:rPr>
              <a:t>Nguyên lý tọa độ</a:t>
            </a:r>
            <a:endParaRPr lang="en-US" sz="2100" dirty="0">
              <a:latin typeface="Times New Roman" panose="02020603050405020304" pitchFamily="18" charset="0"/>
              <a:cs typeface="Times New Roman" panose="02020603050405020304" pitchFamily="18" charset="0"/>
            </a:endParaRPr>
          </a:p>
        </p:txBody>
      </p:sp>
      <p:sp>
        <p:nvSpPr>
          <p:cNvPr id="5" name="Text 3"/>
          <p:cNvSpPr/>
          <p:nvPr/>
        </p:nvSpPr>
        <p:spPr>
          <a:xfrm>
            <a:off x="793790" y="4173379"/>
            <a:ext cx="6244709" cy="733425"/>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Trong hệ tọa độ ảnh số, gốc tọa độ nằm ở góc trên bên trái, trục </a:t>
            </a:r>
            <a:r>
              <a:rPr lang="en-US" sz="2100" i="1" dirty="0">
                <a:solidFill>
                  <a:srgbClr val="DCD7E5"/>
                </a:solidFill>
                <a:latin typeface="Times New Roman" panose="02020603050405020304" pitchFamily="18" charset="0"/>
                <a:ea typeface="Heebo Light" pitchFamily="34" charset="-122"/>
                <a:cs typeface="Times New Roman" panose="02020603050405020304" pitchFamily="18" charset="0"/>
              </a:rPr>
              <a:t>y</a:t>
            </a: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 tăng dần từ trên xuống dưới.</a:t>
            </a:r>
            <a:endParaRPr lang="en-US" sz="2100" dirty="0">
              <a:latin typeface="Times New Roman" panose="02020603050405020304" pitchFamily="18" charset="0"/>
              <a:cs typeface="Times New Roman" panose="02020603050405020304" pitchFamily="18" charset="0"/>
            </a:endParaRPr>
          </a:p>
        </p:txBody>
      </p:sp>
      <p:sp>
        <p:nvSpPr>
          <p:cNvPr id="6" name="Text 4"/>
          <p:cNvSpPr/>
          <p:nvPr/>
        </p:nvSpPr>
        <p:spPr>
          <a:xfrm>
            <a:off x="793790" y="5133618"/>
            <a:ext cx="3709868" cy="354330"/>
          </a:xfrm>
          <a:prstGeom prst="rect">
            <a:avLst/>
          </a:prstGeom>
          <a:noFill/>
          <a:ln/>
        </p:spPr>
        <p:txBody>
          <a:bodyPr wrap="none" lIns="0" tIns="0" rIns="0" bIns="0" rtlCol="0" anchor="t"/>
          <a:lstStyle/>
          <a:p>
            <a:pPr marL="0" indent="0" algn="just">
              <a:lnSpc>
                <a:spcPts val="2750"/>
              </a:lnSpc>
              <a:buNone/>
            </a:pPr>
            <a:r>
              <a:rPr lang="en-US" sz="2100" dirty="0">
                <a:solidFill>
                  <a:srgbClr val="481C9E"/>
                </a:solidFill>
                <a:latin typeface="Times New Roman" panose="02020603050405020304" pitchFamily="18" charset="0"/>
                <a:ea typeface="Montserrat" pitchFamily="34" charset="-122"/>
                <a:cs typeface="Times New Roman" panose="02020603050405020304" pitchFamily="18" charset="0"/>
              </a:rPr>
              <a:t>Cơ chế xác định trạng thái</a:t>
            </a:r>
            <a:endParaRPr lang="en-US" sz="2100" dirty="0">
              <a:latin typeface="Times New Roman" panose="02020603050405020304" pitchFamily="18" charset="0"/>
              <a:cs typeface="Times New Roman" panose="02020603050405020304" pitchFamily="18" charset="0"/>
            </a:endParaRPr>
          </a:p>
        </p:txBody>
      </p:sp>
      <p:sp>
        <p:nvSpPr>
          <p:cNvPr id="7" name="Text 5"/>
          <p:cNvSpPr/>
          <p:nvPr/>
        </p:nvSpPr>
        <p:spPr>
          <a:xfrm>
            <a:off x="793790" y="5714762"/>
            <a:ext cx="6244709" cy="1096328"/>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Một ngón tay được coi là "duỗi" nếu điểm đầu mút ngón tay (TIP) có giá trị </a:t>
            </a:r>
            <a:r>
              <a:rPr lang="en-US" sz="2100" i="1" dirty="0">
                <a:solidFill>
                  <a:srgbClr val="DCD7E5"/>
                </a:solidFill>
                <a:latin typeface="Times New Roman" panose="02020603050405020304" pitchFamily="18" charset="0"/>
                <a:ea typeface="Heebo Light" pitchFamily="34" charset="-122"/>
                <a:cs typeface="Times New Roman" panose="02020603050405020304" pitchFamily="18" charset="0"/>
              </a:rPr>
              <a:t>y</a:t>
            </a: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 nhỏ hơn điểm khớp giữa và khớp gốc của chính ngón đó.</a:t>
            </a:r>
            <a:endParaRPr lang="en-US" sz="2100" dirty="0">
              <a:latin typeface="Times New Roman" panose="02020603050405020304" pitchFamily="18" charset="0"/>
              <a:cs typeface="Times New Roman" panose="02020603050405020304" pitchFamily="18" charset="0"/>
            </a:endParaRPr>
          </a:p>
        </p:txBody>
      </p:sp>
      <p:sp>
        <p:nvSpPr>
          <p:cNvPr id="8" name="Text 6"/>
          <p:cNvSpPr/>
          <p:nvPr/>
        </p:nvSpPr>
        <p:spPr>
          <a:xfrm>
            <a:off x="7599521" y="3592235"/>
            <a:ext cx="2835235" cy="354330"/>
          </a:xfrm>
          <a:prstGeom prst="rect">
            <a:avLst/>
          </a:prstGeom>
          <a:noFill/>
          <a:ln/>
        </p:spPr>
        <p:txBody>
          <a:bodyPr wrap="none" lIns="0" tIns="0" rIns="0" bIns="0" rtlCol="0" anchor="t"/>
          <a:lstStyle/>
          <a:p>
            <a:pPr marL="0" indent="0" algn="just">
              <a:lnSpc>
                <a:spcPts val="2750"/>
              </a:lnSpc>
              <a:buNone/>
            </a:pPr>
            <a:r>
              <a:rPr lang="en-US" sz="2100" dirty="0">
                <a:solidFill>
                  <a:srgbClr val="481C9E"/>
                </a:solidFill>
                <a:latin typeface="Times New Roman" panose="02020603050405020304" pitchFamily="18" charset="0"/>
                <a:ea typeface="Montserrat" pitchFamily="34" charset="-122"/>
                <a:cs typeface="Times New Roman" panose="02020603050405020304" pitchFamily="18" charset="0"/>
              </a:rPr>
              <a:t>Bộ luật phân loại</a:t>
            </a:r>
            <a:endParaRPr lang="en-US" sz="2100" dirty="0">
              <a:latin typeface="Times New Roman" panose="02020603050405020304" pitchFamily="18" charset="0"/>
              <a:cs typeface="Times New Roman" panose="02020603050405020304" pitchFamily="18" charset="0"/>
            </a:endParaRPr>
          </a:p>
        </p:txBody>
      </p:sp>
      <p:sp>
        <p:nvSpPr>
          <p:cNvPr id="9" name="Text 7"/>
          <p:cNvSpPr/>
          <p:nvPr/>
        </p:nvSpPr>
        <p:spPr>
          <a:xfrm>
            <a:off x="7599521" y="4173379"/>
            <a:ext cx="6244709" cy="1610201"/>
          </a:xfrm>
          <a:prstGeom prst="rect">
            <a:avLst/>
          </a:prstGeom>
          <a:noFill/>
          <a:ln/>
        </p:spPr>
        <p:txBody>
          <a:bodyPr wrap="square" lIns="0" tIns="0" rIns="0" bIns="0" rtlCol="0" anchor="t"/>
          <a:lstStyle/>
          <a:p>
            <a:pPr marL="342900" indent="-342900" algn="just">
              <a:lnSpc>
                <a:spcPts val="2850"/>
              </a:lnSpc>
              <a:buSzPct val="100000"/>
              <a:buChar char="•"/>
            </a:pPr>
            <a:r>
              <a:rPr lang="en-US" sz="2100" b="1" dirty="0">
                <a:solidFill>
                  <a:srgbClr val="DCD7E5"/>
                </a:solidFill>
                <a:latin typeface="Times New Roman" panose="02020603050405020304" pitchFamily="18" charset="0"/>
                <a:ea typeface="Heebo Light" pitchFamily="34" charset="-122"/>
                <a:cs typeface="Times New Roman" panose="02020603050405020304" pitchFamily="18" charset="0"/>
              </a:rPr>
              <a:t>Kéo:</a:t>
            </a: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 Chỉ ngón trỏ và ngón giữa thỏa mãn điều kiện "duỗi".</a:t>
            </a:r>
            <a:endParaRPr lang="en-US" sz="2100" dirty="0">
              <a:latin typeface="Times New Roman" panose="02020603050405020304" pitchFamily="18" charset="0"/>
              <a:cs typeface="Times New Roman" panose="02020603050405020304" pitchFamily="18" charset="0"/>
            </a:endParaRPr>
          </a:p>
          <a:p>
            <a:pPr marL="342900" indent="-342900" algn="just">
              <a:lnSpc>
                <a:spcPts val="2850"/>
              </a:lnSpc>
              <a:buSzPct val="100000"/>
              <a:buChar char="•"/>
            </a:pPr>
            <a:r>
              <a:rPr lang="en-US" sz="2100" b="1" dirty="0">
                <a:solidFill>
                  <a:srgbClr val="DCD7E5"/>
                </a:solidFill>
                <a:latin typeface="Times New Roman" panose="02020603050405020304" pitchFamily="18" charset="0"/>
                <a:ea typeface="Heebo Light" pitchFamily="34" charset="-122"/>
                <a:cs typeface="Times New Roman" panose="02020603050405020304" pitchFamily="18" charset="0"/>
              </a:rPr>
              <a:t>Bao:</a:t>
            </a: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 Tất cả các ngón tay đều ở trạng thái "duỗi".</a:t>
            </a:r>
            <a:endParaRPr lang="en-US" sz="2100" dirty="0">
              <a:latin typeface="Times New Roman" panose="02020603050405020304" pitchFamily="18" charset="0"/>
              <a:cs typeface="Times New Roman" panose="02020603050405020304" pitchFamily="18" charset="0"/>
            </a:endParaRPr>
          </a:p>
          <a:p>
            <a:pPr marL="342900" indent="-342900" algn="just">
              <a:lnSpc>
                <a:spcPts val="2850"/>
              </a:lnSpc>
              <a:buSzPct val="100000"/>
              <a:buChar char="•"/>
            </a:pPr>
            <a:r>
              <a:rPr lang="en-US" sz="2100" b="1" dirty="0">
                <a:solidFill>
                  <a:srgbClr val="DCD7E5"/>
                </a:solidFill>
                <a:latin typeface="Times New Roman" panose="02020603050405020304" pitchFamily="18" charset="0"/>
                <a:ea typeface="Heebo Light" pitchFamily="34" charset="-122"/>
                <a:cs typeface="Times New Roman" panose="02020603050405020304" pitchFamily="18" charset="0"/>
              </a:rPr>
              <a:t>Búa:</a:t>
            </a: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 Trạng thái nắm đấm, không có ngón nào duỗi (tất cả đều gập).</a:t>
            </a:r>
            <a:endParaRPr lang="en-US" sz="2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670" y="806990"/>
            <a:ext cx="13042821" cy="708779"/>
          </a:xfrm>
          <a:prstGeom prst="rect">
            <a:avLst/>
          </a:prstGeom>
          <a:noFill/>
          <a:ln/>
        </p:spPr>
        <p:txBody>
          <a:bodyPr wrap="none" lIns="0" tIns="0" rIns="0" bIns="0" rtlCol="0" anchor="t"/>
          <a:lstStyle/>
          <a:p>
            <a:pPr marL="0" indent="0" algn="ctr">
              <a:lnSpc>
                <a:spcPts val="5550"/>
              </a:lnSpc>
              <a:buNone/>
            </a:pPr>
            <a:r>
              <a:rPr lang="en-US" sz="5400" dirty="0">
                <a:solidFill>
                  <a:srgbClr val="F2F0F4"/>
                </a:solidFill>
                <a:latin typeface="Times New Roman" panose="02020603050405020304" pitchFamily="18" charset="0"/>
                <a:ea typeface="Montserrat" pitchFamily="34" charset="-122"/>
                <a:cs typeface="Times New Roman" panose="02020603050405020304" pitchFamily="18" charset="0"/>
              </a:rPr>
              <a:t>Xử lý hình ảnh và Hệ thống máy chủ</a:t>
            </a:r>
            <a:endParaRPr lang="en-US" sz="5400" dirty="0">
              <a:latin typeface="Times New Roman" panose="02020603050405020304" pitchFamily="18" charset="0"/>
              <a:cs typeface="Times New Roman" panose="02020603050405020304" pitchFamily="18" charset="0"/>
            </a:endParaRPr>
          </a:p>
        </p:txBody>
      </p:sp>
      <p:sp>
        <p:nvSpPr>
          <p:cNvPr id="3" name="Text 1"/>
          <p:cNvSpPr/>
          <p:nvPr/>
        </p:nvSpPr>
        <p:spPr>
          <a:xfrm>
            <a:off x="793790" y="2432804"/>
            <a:ext cx="13042821" cy="362903"/>
          </a:xfrm>
          <a:prstGeom prst="rect">
            <a:avLst/>
          </a:prstGeom>
          <a:noFill/>
          <a:ln/>
        </p:spPr>
        <p:txBody>
          <a:bodyPr wrap="non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Để ứng dụng vận hành trơn tru trên môi trường trình duyệt, hệ thống áp dụng các kỹ thuật xử lý chuyên sâu:</a:t>
            </a:r>
            <a:endParaRPr lang="en-US" sz="2100" dirty="0">
              <a:latin typeface="Times New Roman" panose="02020603050405020304" pitchFamily="18" charset="0"/>
              <a:cs typeface="Times New Roman" panose="02020603050405020304" pitchFamily="18" charset="0"/>
            </a:endParaRPr>
          </a:p>
        </p:txBody>
      </p:sp>
      <p:sp>
        <p:nvSpPr>
          <p:cNvPr id="4" name="Shape 2"/>
          <p:cNvSpPr/>
          <p:nvPr/>
        </p:nvSpPr>
        <p:spPr>
          <a:xfrm>
            <a:off x="793790" y="3050858"/>
            <a:ext cx="4135397" cy="4063620"/>
          </a:xfrm>
          <a:prstGeom prst="roundRect">
            <a:avLst>
              <a:gd name="adj" fmla="val 3743"/>
            </a:avLst>
          </a:prstGeom>
          <a:solidFill>
            <a:srgbClr val="0D0A2C">
              <a:alpha val="95000"/>
            </a:srgbClr>
          </a:solidFill>
          <a:ln w="30480">
            <a:solidFill>
              <a:srgbClr val="4A2C85"/>
            </a:solidFill>
            <a:prstDash val="solid"/>
          </a:ln>
        </p:spPr>
      </p:sp>
      <p:pic>
        <p:nvPicPr>
          <p:cNvPr id="5" name="Image 0" descr="preencoded.png"/>
          <p:cNvPicPr>
            <a:picLocks noChangeAspect="1"/>
          </p:cNvPicPr>
          <p:nvPr/>
        </p:nvPicPr>
        <p:blipFill>
          <a:blip r:embed="rId3"/>
          <a:stretch>
            <a:fillRect/>
          </a:stretch>
        </p:blipFill>
        <p:spPr>
          <a:xfrm>
            <a:off x="763310" y="3050858"/>
            <a:ext cx="121920" cy="3908227"/>
          </a:xfrm>
          <a:prstGeom prst="rect">
            <a:avLst/>
          </a:prstGeom>
        </p:spPr>
      </p:pic>
      <p:sp>
        <p:nvSpPr>
          <p:cNvPr id="6" name="Text 3"/>
          <p:cNvSpPr/>
          <p:nvPr/>
        </p:nvSpPr>
        <p:spPr>
          <a:xfrm>
            <a:off x="1142524" y="3308152"/>
            <a:ext cx="2835235" cy="354330"/>
          </a:xfrm>
          <a:prstGeom prst="rect">
            <a:avLst/>
          </a:prstGeom>
          <a:noFill/>
          <a:ln/>
        </p:spPr>
        <p:txBody>
          <a:bodyPr wrap="none" lIns="0" tIns="0" rIns="0" bIns="0" rtlCol="0" anchor="t"/>
          <a:lstStyle/>
          <a:p>
            <a:pPr marL="0" indent="0" algn="just">
              <a:lnSpc>
                <a:spcPts val="275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OpenCV (Tiền xử lý)</a:t>
            </a:r>
            <a:endParaRPr lang="en-US" sz="2100" dirty="0">
              <a:latin typeface="Times New Roman" panose="02020603050405020304" pitchFamily="18" charset="0"/>
              <a:cs typeface="Times New Roman" panose="02020603050405020304" pitchFamily="18" charset="0"/>
            </a:endParaRPr>
          </a:p>
        </p:txBody>
      </p:sp>
      <p:sp>
        <p:nvSpPr>
          <p:cNvPr id="7" name="Text 4"/>
          <p:cNvSpPr/>
          <p:nvPr/>
        </p:nvSpPr>
        <p:spPr>
          <a:xfrm>
            <a:off x="1142524" y="3798570"/>
            <a:ext cx="3590330" cy="2903220"/>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Thực hiện phép lật ma trận điểm ảnh (Flip) theo trục tung để tạo hiệu ứng "gương soi", giúp người chơi tương tác một cách bản năng và tự nhiên nhất. Đồng thời, chuyển đổi không gian màu từ BGR sang RGB để tương thích với yêu cầu đầu vào của mô hình AI.</a:t>
            </a:r>
            <a:endParaRPr lang="en-US" sz="2100" dirty="0">
              <a:latin typeface="Times New Roman" panose="02020603050405020304" pitchFamily="18" charset="0"/>
              <a:cs typeface="Times New Roman" panose="02020603050405020304" pitchFamily="18" charset="0"/>
            </a:endParaRPr>
          </a:p>
        </p:txBody>
      </p:sp>
      <p:sp>
        <p:nvSpPr>
          <p:cNvPr id="8" name="Shape 5"/>
          <p:cNvSpPr/>
          <p:nvPr/>
        </p:nvSpPr>
        <p:spPr>
          <a:xfrm>
            <a:off x="5216962" y="3050858"/>
            <a:ext cx="4196358" cy="4063620"/>
          </a:xfrm>
          <a:prstGeom prst="roundRect">
            <a:avLst>
              <a:gd name="adj" fmla="val 3743"/>
            </a:avLst>
          </a:prstGeom>
          <a:solidFill>
            <a:srgbClr val="0D0A2C">
              <a:alpha val="95000"/>
            </a:srgbClr>
          </a:solidFill>
          <a:ln w="30480">
            <a:solidFill>
              <a:srgbClr val="4A2C85"/>
            </a:solidFill>
            <a:prstDash val="solid"/>
          </a:ln>
        </p:spPr>
      </p:sp>
      <p:pic>
        <p:nvPicPr>
          <p:cNvPr id="9" name="Image 1" descr="preencoded.png"/>
          <p:cNvPicPr>
            <a:picLocks noChangeAspect="1"/>
          </p:cNvPicPr>
          <p:nvPr/>
        </p:nvPicPr>
        <p:blipFill>
          <a:blip r:embed="rId3"/>
          <a:stretch>
            <a:fillRect/>
          </a:stretch>
        </p:blipFill>
        <p:spPr>
          <a:xfrm>
            <a:off x="5186482" y="3050858"/>
            <a:ext cx="121920" cy="3908227"/>
          </a:xfrm>
          <a:prstGeom prst="rect">
            <a:avLst/>
          </a:prstGeom>
        </p:spPr>
      </p:pic>
      <p:sp>
        <p:nvSpPr>
          <p:cNvPr id="10" name="Text 6"/>
          <p:cNvSpPr/>
          <p:nvPr/>
        </p:nvSpPr>
        <p:spPr>
          <a:xfrm>
            <a:off x="5565696" y="3308152"/>
            <a:ext cx="2835235" cy="354330"/>
          </a:xfrm>
          <a:prstGeom prst="rect">
            <a:avLst/>
          </a:prstGeom>
          <a:noFill/>
          <a:ln/>
        </p:spPr>
        <p:txBody>
          <a:bodyPr wrap="none" lIns="0" tIns="0" rIns="0" bIns="0" rtlCol="0" anchor="t"/>
          <a:lstStyle/>
          <a:p>
            <a:pPr marL="0" indent="0" algn="just">
              <a:lnSpc>
                <a:spcPts val="275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Máy chủ Flask</a:t>
            </a:r>
            <a:endParaRPr lang="en-US" sz="2100" dirty="0">
              <a:latin typeface="Times New Roman" panose="02020603050405020304" pitchFamily="18" charset="0"/>
              <a:cs typeface="Times New Roman" panose="02020603050405020304" pitchFamily="18" charset="0"/>
            </a:endParaRPr>
          </a:p>
        </p:txBody>
      </p:sp>
      <p:sp>
        <p:nvSpPr>
          <p:cNvPr id="11" name="Text 7"/>
          <p:cNvSpPr/>
          <p:nvPr/>
        </p:nvSpPr>
        <p:spPr>
          <a:xfrm>
            <a:off x="5565696" y="3798570"/>
            <a:ext cx="3590330" cy="2177415"/>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Đóng vai trò là "trung tâm điều phối", tiếp nhận dữ liệu từ giao diện Frontend thông qua các API bất đồng bộ, giúp quá trình lưu trữ ván đấu diễn ra ngầm mà không làm gián đoạn luồng video.</a:t>
            </a:r>
            <a:endParaRPr lang="en-US" sz="2100" dirty="0">
              <a:latin typeface="Times New Roman" panose="02020603050405020304" pitchFamily="18" charset="0"/>
              <a:cs typeface="Times New Roman" panose="02020603050405020304" pitchFamily="18" charset="0"/>
            </a:endParaRPr>
          </a:p>
        </p:txBody>
      </p:sp>
      <p:sp>
        <p:nvSpPr>
          <p:cNvPr id="12" name="Shape 8"/>
          <p:cNvSpPr/>
          <p:nvPr/>
        </p:nvSpPr>
        <p:spPr>
          <a:xfrm>
            <a:off x="9640132" y="3050858"/>
            <a:ext cx="4226957" cy="4063620"/>
          </a:xfrm>
          <a:prstGeom prst="roundRect">
            <a:avLst>
              <a:gd name="adj" fmla="val 3743"/>
            </a:avLst>
          </a:prstGeom>
          <a:solidFill>
            <a:srgbClr val="0D0A2C">
              <a:alpha val="95000"/>
            </a:srgbClr>
          </a:solidFill>
          <a:ln w="30480">
            <a:solidFill>
              <a:srgbClr val="4A2C85"/>
            </a:solidFill>
            <a:prstDash val="solid"/>
          </a:ln>
        </p:spPr>
      </p:sp>
      <p:pic>
        <p:nvPicPr>
          <p:cNvPr id="13" name="Image 2" descr="preencoded.png"/>
          <p:cNvPicPr>
            <a:picLocks noChangeAspect="1"/>
          </p:cNvPicPr>
          <p:nvPr/>
        </p:nvPicPr>
        <p:blipFill>
          <a:blip r:embed="rId3"/>
          <a:stretch>
            <a:fillRect/>
          </a:stretch>
        </p:blipFill>
        <p:spPr>
          <a:xfrm>
            <a:off x="9609653" y="3050858"/>
            <a:ext cx="121920" cy="3908227"/>
          </a:xfrm>
          <a:prstGeom prst="rect">
            <a:avLst/>
          </a:prstGeom>
        </p:spPr>
      </p:pic>
      <p:sp>
        <p:nvSpPr>
          <p:cNvPr id="14" name="Text 9"/>
          <p:cNvSpPr/>
          <p:nvPr/>
        </p:nvSpPr>
        <p:spPr>
          <a:xfrm>
            <a:off x="9988868" y="3308152"/>
            <a:ext cx="2840593" cy="354330"/>
          </a:xfrm>
          <a:prstGeom prst="rect">
            <a:avLst/>
          </a:prstGeom>
          <a:noFill/>
          <a:ln/>
        </p:spPr>
        <p:txBody>
          <a:bodyPr wrap="none" lIns="0" tIns="0" rIns="0" bIns="0" rtlCol="0" anchor="t"/>
          <a:lstStyle/>
          <a:p>
            <a:pPr marL="0" indent="0" algn="just">
              <a:lnSpc>
                <a:spcPts val="275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Bảo mật SQL Server</a:t>
            </a:r>
            <a:endParaRPr lang="en-US" sz="2100" dirty="0">
              <a:latin typeface="Times New Roman" panose="02020603050405020304" pitchFamily="18" charset="0"/>
              <a:cs typeface="Times New Roman" panose="02020603050405020304" pitchFamily="18" charset="0"/>
            </a:endParaRPr>
          </a:p>
        </p:txBody>
      </p:sp>
      <p:sp>
        <p:nvSpPr>
          <p:cNvPr id="15" name="Text 10"/>
          <p:cNvSpPr/>
          <p:nvPr/>
        </p:nvSpPr>
        <p:spPr>
          <a:xfrm>
            <a:off x="9988868" y="3798570"/>
            <a:ext cx="3590330" cy="2177415"/>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Toàn bộ logic thao tác dữ liệu được đóng gói trong các Thủ tục lưu trữ (Stored Procedure), tạo ra bức tường lửa ngăn chặn tuyệt đối các cuộc tấn công tiêm mã độc (SQL Injection).</a:t>
            </a:r>
            <a:endParaRPr lang="en-US" sz="2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89" y="765095"/>
            <a:ext cx="12815887" cy="708779"/>
          </a:xfrm>
          <a:prstGeom prst="rect">
            <a:avLst/>
          </a:prstGeom>
          <a:noFill/>
          <a:ln/>
        </p:spPr>
        <p:txBody>
          <a:bodyPr wrap="none" lIns="0" tIns="0" rIns="0" bIns="0" rtlCol="0" anchor="t"/>
          <a:lstStyle/>
          <a:p>
            <a:pPr marL="0" indent="0" algn="ctr">
              <a:lnSpc>
                <a:spcPts val="5550"/>
              </a:lnSpc>
              <a:buNone/>
            </a:pPr>
            <a:r>
              <a:rPr lang="en-US" sz="5400" dirty="0">
                <a:solidFill>
                  <a:srgbClr val="F2F0F4"/>
                </a:solidFill>
                <a:latin typeface="Times New Roman" panose="02020603050405020304" pitchFamily="18" charset="0"/>
                <a:ea typeface="Montserrat" pitchFamily="34" charset="-122"/>
                <a:cs typeface="Times New Roman" panose="02020603050405020304" pitchFamily="18" charset="0"/>
              </a:rPr>
              <a:t>Phương pháp thực hiện và Dữ liệu</a:t>
            </a:r>
            <a:endParaRPr lang="en-US" sz="5400" dirty="0">
              <a:latin typeface="Times New Roman" panose="02020603050405020304" pitchFamily="18" charset="0"/>
              <a:cs typeface="Times New Roman" panose="02020603050405020304" pitchFamily="18" charset="0"/>
            </a:endParaRPr>
          </a:p>
        </p:txBody>
      </p:sp>
      <p:sp>
        <p:nvSpPr>
          <p:cNvPr id="3" name="Text 1"/>
          <p:cNvSpPr/>
          <p:nvPr/>
        </p:nvSpPr>
        <p:spPr>
          <a:xfrm>
            <a:off x="793790" y="2191107"/>
            <a:ext cx="13042821" cy="725805"/>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Dự án được triển khai dựa trên hai nhóm dữ liệu chính: dữ liệu thị giác thời gian thực từ Webcam và dữ liệu nghiệp vụ được lưu trữ trong hệ quản trị cơ sở dữ liệu.</a:t>
            </a:r>
            <a:endParaRPr lang="en-US" sz="2100" dirty="0">
              <a:latin typeface="Times New Roman" panose="02020603050405020304" pitchFamily="18" charset="0"/>
              <a:cs typeface="Times New Roman" panose="02020603050405020304" pitchFamily="18" charset="0"/>
            </a:endParaRPr>
          </a:p>
        </p:txBody>
      </p:sp>
      <p:pic>
        <p:nvPicPr>
          <p:cNvPr id="4" name="Image 0" descr="preencoded.png"/>
          <p:cNvPicPr>
            <a:picLocks noChangeAspect="1"/>
          </p:cNvPicPr>
          <p:nvPr/>
        </p:nvPicPr>
        <p:blipFill>
          <a:blip r:embed="rId3"/>
          <a:stretch>
            <a:fillRect/>
          </a:stretch>
        </p:blipFill>
        <p:spPr>
          <a:xfrm>
            <a:off x="793790" y="3172063"/>
            <a:ext cx="4347567" cy="907256"/>
          </a:xfrm>
          <a:prstGeom prst="rect">
            <a:avLst/>
          </a:prstGeom>
        </p:spPr>
      </p:pic>
      <p:sp>
        <p:nvSpPr>
          <p:cNvPr id="5" name="Text 2"/>
          <p:cNvSpPr/>
          <p:nvPr/>
        </p:nvSpPr>
        <p:spPr>
          <a:xfrm>
            <a:off x="1020604" y="4306133"/>
            <a:ext cx="2860119" cy="354330"/>
          </a:xfrm>
          <a:prstGeom prst="rect">
            <a:avLst/>
          </a:prstGeom>
          <a:noFill/>
          <a:ln/>
        </p:spPr>
        <p:txBody>
          <a:bodyPr wrap="none" lIns="0" tIns="0" rIns="0" bIns="0" rtlCol="0" anchor="t"/>
          <a:lstStyle/>
          <a:p>
            <a:pPr marL="0" indent="0" algn="just">
              <a:lnSpc>
                <a:spcPts val="275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Trích xuất đặc trưng</a:t>
            </a:r>
            <a:endParaRPr lang="en-US" sz="2100" dirty="0">
              <a:latin typeface="Times New Roman" panose="02020603050405020304" pitchFamily="18" charset="0"/>
              <a:cs typeface="Times New Roman" panose="02020603050405020304" pitchFamily="18" charset="0"/>
            </a:endParaRPr>
          </a:p>
        </p:txBody>
      </p:sp>
      <p:sp>
        <p:nvSpPr>
          <p:cNvPr id="6" name="Text 3"/>
          <p:cNvSpPr/>
          <p:nvPr/>
        </p:nvSpPr>
        <p:spPr>
          <a:xfrm>
            <a:off x="1020604" y="4796552"/>
            <a:ext cx="3893939" cy="1451610"/>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Từ 63 giá trị tọa độ thô, thuật toán chuyển đổi thành 4 biến logic nhị phân (boolean) đại diện cho trạng thái duỗi/gập của các ngón tay chủ đạo.</a:t>
            </a:r>
            <a:endParaRPr lang="en-US" sz="2100" dirty="0">
              <a:latin typeface="Times New Roman" panose="02020603050405020304" pitchFamily="18" charset="0"/>
              <a:cs typeface="Times New Roman" panose="02020603050405020304" pitchFamily="18" charset="0"/>
            </a:endParaRPr>
          </a:p>
        </p:txBody>
      </p:sp>
      <p:pic>
        <p:nvPicPr>
          <p:cNvPr id="7" name="Image 1" descr="preencoded.png"/>
          <p:cNvPicPr>
            <a:picLocks noChangeAspect="1"/>
          </p:cNvPicPr>
          <p:nvPr/>
        </p:nvPicPr>
        <p:blipFill>
          <a:blip r:embed="rId4"/>
          <a:stretch>
            <a:fillRect/>
          </a:stretch>
        </p:blipFill>
        <p:spPr>
          <a:xfrm>
            <a:off x="5141357" y="3172063"/>
            <a:ext cx="4347567" cy="907256"/>
          </a:xfrm>
          <a:prstGeom prst="rect">
            <a:avLst/>
          </a:prstGeom>
        </p:spPr>
      </p:pic>
      <p:sp>
        <p:nvSpPr>
          <p:cNvPr id="8" name="Text 4"/>
          <p:cNvSpPr/>
          <p:nvPr/>
        </p:nvSpPr>
        <p:spPr>
          <a:xfrm>
            <a:off x="5368171" y="4306133"/>
            <a:ext cx="2835235" cy="354330"/>
          </a:xfrm>
          <a:prstGeom prst="rect">
            <a:avLst/>
          </a:prstGeom>
          <a:noFill/>
          <a:ln/>
        </p:spPr>
        <p:txBody>
          <a:bodyPr wrap="none" lIns="0" tIns="0" rIns="0" bIns="0" rtlCol="0" anchor="t"/>
          <a:lstStyle/>
          <a:p>
            <a:pPr marL="0" indent="0" algn="just">
              <a:lnSpc>
                <a:spcPts val="275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Làm sạch dữ liệu</a:t>
            </a:r>
            <a:endParaRPr lang="en-US" sz="2100" dirty="0">
              <a:latin typeface="Times New Roman" panose="02020603050405020304" pitchFamily="18" charset="0"/>
              <a:cs typeface="Times New Roman" panose="02020603050405020304" pitchFamily="18" charset="0"/>
            </a:endParaRPr>
          </a:p>
        </p:txBody>
      </p:sp>
      <p:sp>
        <p:nvSpPr>
          <p:cNvPr id="9" name="Text 5"/>
          <p:cNvSpPr/>
          <p:nvPr/>
        </p:nvSpPr>
        <p:spPr>
          <a:xfrm>
            <a:off x="5368171" y="4796552"/>
            <a:ext cx="3893939" cy="2177415"/>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Để đảm bảo tính chính xác, em thiết lập ngưỡng tin cậy phát hiện và theo dõi ở mức 0.7. Mọi trường hợp không khớp với bộ mẫu cử chỉ quy định sẽ được hệ thống gán nhãn "Không rõ" thay vì ép buộc đưa ra kết quả sai lệch.</a:t>
            </a:r>
            <a:endParaRPr lang="en-US" sz="2100" dirty="0">
              <a:latin typeface="Times New Roman" panose="02020603050405020304" pitchFamily="18" charset="0"/>
              <a:cs typeface="Times New Roman" panose="02020603050405020304" pitchFamily="18" charset="0"/>
            </a:endParaRPr>
          </a:p>
        </p:txBody>
      </p:sp>
      <p:pic>
        <p:nvPicPr>
          <p:cNvPr id="10" name="Image 2" descr="preencoded.png"/>
          <p:cNvPicPr>
            <a:picLocks noChangeAspect="1"/>
          </p:cNvPicPr>
          <p:nvPr/>
        </p:nvPicPr>
        <p:blipFill>
          <a:blip r:embed="rId5"/>
          <a:stretch>
            <a:fillRect/>
          </a:stretch>
        </p:blipFill>
        <p:spPr>
          <a:xfrm>
            <a:off x="9488924" y="3172063"/>
            <a:ext cx="4347567" cy="907256"/>
          </a:xfrm>
          <a:prstGeom prst="rect">
            <a:avLst/>
          </a:prstGeom>
        </p:spPr>
      </p:pic>
      <p:sp>
        <p:nvSpPr>
          <p:cNvPr id="11" name="Text 6"/>
          <p:cNvSpPr/>
          <p:nvPr/>
        </p:nvSpPr>
        <p:spPr>
          <a:xfrm>
            <a:off x="9715738" y="4306133"/>
            <a:ext cx="2835235" cy="354330"/>
          </a:xfrm>
          <a:prstGeom prst="rect">
            <a:avLst/>
          </a:prstGeom>
          <a:noFill/>
          <a:ln/>
        </p:spPr>
        <p:txBody>
          <a:bodyPr wrap="none" lIns="0" tIns="0" rIns="0" bIns="0" rtlCol="0" anchor="t"/>
          <a:lstStyle/>
          <a:p>
            <a:pPr marL="0" indent="0" algn="just">
              <a:lnSpc>
                <a:spcPts val="275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Quy trình vận hành</a:t>
            </a:r>
            <a:endParaRPr lang="en-US" sz="2100" dirty="0">
              <a:latin typeface="Times New Roman" panose="02020603050405020304" pitchFamily="18" charset="0"/>
              <a:cs typeface="Times New Roman" panose="02020603050405020304" pitchFamily="18" charset="0"/>
            </a:endParaRPr>
          </a:p>
        </p:txBody>
      </p:sp>
      <p:sp>
        <p:nvSpPr>
          <p:cNvPr id="12" name="Text 7"/>
          <p:cNvSpPr/>
          <p:nvPr/>
        </p:nvSpPr>
        <p:spPr>
          <a:xfrm>
            <a:off x="9715738" y="4796552"/>
            <a:ext cx="3893939" cy="1814513"/>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Hệ thống tập trung vào pha suy diễn (Inference) trực tiếp từ mô hình MediaPipe đã được huấn luyện sẵn, giúp giảm thiểu thời gian triển khai mà vẫn đạt hiệu quả cao.</a:t>
            </a:r>
            <a:endParaRPr lang="en-US" sz="2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04280" y="472319"/>
            <a:ext cx="13042821" cy="460772"/>
          </a:xfrm>
          <a:prstGeom prst="rect">
            <a:avLst/>
          </a:prstGeom>
          <a:noFill/>
          <a:ln/>
        </p:spPr>
        <p:txBody>
          <a:bodyPr wrap="none" lIns="0" tIns="0" rIns="0" bIns="0" rtlCol="0" anchor="t"/>
          <a:lstStyle/>
          <a:p>
            <a:pPr marL="0" indent="0" algn="ctr">
              <a:lnSpc>
                <a:spcPts val="3600"/>
              </a:lnSpc>
              <a:buNone/>
            </a:pPr>
            <a:r>
              <a:rPr lang="en-US" sz="5400" dirty="0">
                <a:solidFill>
                  <a:srgbClr val="F2F0F4"/>
                </a:solidFill>
                <a:latin typeface="Times New Roman" panose="02020603050405020304" pitchFamily="18" charset="0"/>
                <a:ea typeface="Montserrat" pitchFamily="34" charset="-122"/>
                <a:cs typeface="Times New Roman" panose="02020603050405020304" pitchFamily="18" charset="0"/>
              </a:rPr>
              <a:t>Kiến trúc tổng thể hệ thống (Pipeline)</a:t>
            </a:r>
            <a:endParaRPr lang="en-US" sz="5400" dirty="0">
              <a:latin typeface="Times New Roman" panose="02020603050405020304" pitchFamily="18" charset="0"/>
              <a:cs typeface="Times New Roman" panose="02020603050405020304" pitchFamily="18" charset="0"/>
            </a:endParaRPr>
          </a:p>
        </p:txBody>
      </p:sp>
      <p:sp>
        <p:nvSpPr>
          <p:cNvPr id="3" name="Text 1"/>
          <p:cNvSpPr/>
          <p:nvPr/>
        </p:nvSpPr>
        <p:spPr>
          <a:xfrm>
            <a:off x="793790" y="1405889"/>
            <a:ext cx="13042821" cy="426601"/>
          </a:xfrm>
          <a:prstGeom prst="rect">
            <a:avLst/>
          </a:prstGeom>
          <a:noFill/>
          <a:ln/>
        </p:spPr>
        <p:txBody>
          <a:bodyPr wrap="none" lIns="0" tIns="0" rIns="0" bIns="0" rtlCol="0" anchor="t"/>
          <a:lstStyle/>
          <a:p>
            <a:pPr marL="0" indent="0" algn="just">
              <a:lnSpc>
                <a:spcPts val="150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Hệ thống được thiết kế theo một quy trình lai (Hybrid Pipeline) khép kín, đảm bảo tính nhất quán từ lúc thu nhận </a:t>
            </a:r>
            <a:r>
              <a:rPr lang="en-US" sz="2100" dirty="0" err="1">
                <a:solidFill>
                  <a:srgbClr val="DCD7E5"/>
                </a:solidFill>
                <a:latin typeface="Times New Roman" panose="02020603050405020304" pitchFamily="18" charset="0"/>
                <a:ea typeface="Heebo Light" pitchFamily="34" charset="-122"/>
                <a:cs typeface="Times New Roman" panose="02020603050405020304" pitchFamily="18" charset="0"/>
              </a:rPr>
              <a:t>hình</a:t>
            </a: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 </a:t>
            </a:r>
            <a:r>
              <a:rPr lang="en-US" sz="2100" dirty="0" err="1">
                <a:solidFill>
                  <a:srgbClr val="DCD7E5"/>
                </a:solidFill>
                <a:latin typeface="Times New Roman" panose="02020603050405020304" pitchFamily="18" charset="0"/>
                <a:ea typeface="Heebo Light" pitchFamily="34" charset="-122"/>
                <a:cs typeface="Times New Roman" panose="02020603050405020304" pitchFamily="18" charset="0"/>
              </a:rPr>
              <a:t>ảnh</a:t>
            </a:r>
            <a:endParaRPr lang="vi-VN" sz="2100" dirty="0">
              <a:solidFill>
                <a:srgbClr val="DCD7E5"/>
              </a:solidFill>
              <a:latin typeface="Times New Roman" panose="02020603050405020304" pitchFamily="18" charset="0"/>
              <a:ea typeface="Heebo Light" pitchFamily="34" charset="-122"/>
              <a:cs typeface="Times New Roman" panose="02020603050405020304" pitchFamily="18" charset="0"/>
            </a:endParaRPr>
          </a:p>
          <a:p>
            <a:pPr marL="0" indent="0" algn="just">
              <a:lnSpc>
                <a:spcPts val="1500"/>
              </a:lnSpc>
              <a:buNone/>
            </a:pPr>
            <a:r>
              <a:rPr lang="en-US" sz="2100" dirty="0" err="1">
                <a:solidFill>
                  <a:srgbClr val="DCD7E5"/>
                </a:solidFill>
                <a:latin typeface="Times New Roman" panose="02020603050405020304" pitchFamily="18" charset="0"/>
                <a:ea typeface="Heebo Light" pitchFamily="34" charset="-122"/>
                <a:cs typeface="Times New Roman" panose="02020603050405020304" pitchFamily="18" charset="0"/>
              </a:rPr>
              <a:t>đến</a:t>
            </a: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 khi lưu trữ kết quả:</a:t>
            </a:r>
            <a:endParaRPr lang="en-US" sz="2100" dirty="0">
              <a:latin typeface="Times New Roman" panose="02020603050405020304" pitchFamily="18" charset="0"/>
              <a:cs typeface="Times New Roman" panose="02020603050405020304" pitchFamily="18" charset="0"/>
            </a:endParaRPr>
          </a:p>
        </p:txBody>
      </p:sp>
      <p:sp>
        <p:nvSpPr>
          <p:cNvPr id="4" name="Shape 2"/>
          <p:cNvSpPr/>
          <p:nvPr/>
        </p:nvSpPr>
        <p:spPr>
          <a:xfrm>
            <a:off x="941189" y="2017633"/>
            <a:ext cx="147399" cy="663297"/>
          </a:xfrm>
          <a:prstGeom prst="roundRect">
            <a:avLst>
              <a:gd name="adj" fmla="val 42011"/>
            </a:avLst>
          </a:prstGeom>
          <a:solidFill>
            <a:srgbClr val="31136C"/>
          </a:solidFill>
          <a:ln w="7620">
            <a:solidFill>
              <a:srgbClr val="4A2C85"/>
            </a:solidFill>
            <a:prstDash val="solid"/>
          </a:ln>
        </p:spPr>
      </p:sp>
      <p:sp>
        <p:nvSpPr>
          <p:cNvPr id="5" name="Shape 3"/>
          <p:cNvSpPr/>
          <p:nvPr/>
        </p:nvSpPr>
        <p:spPr>
          <a:xfrm>
            <a:off x="793790" y="1920835"/>
            <a:ext cx="442198" cy="442198"/>
          </a:xfrm>
          <a:prstGeom prst="roundRect">
            <a:avLst>
              <a:gd name="adj" fmla="val 103393"/>
            </a:avLst>
          </a:prstGeom>
          <a:solidFill>
            <a:srgbClr val="31136C"/>
          </a:solidFill>
          <a:ln w="7620">
            <a:solidFill>
              <a:srgbClr val="4A2C85"/>
            </a:solidFill>
            <a:prstDash val="solid"/>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4280" y="2031444"/>
            <a:ext cx="221099" cy="221099"/>
          </a:xfrm>
          <a:prstGeom prst="rect">
            <a:avLst/>
          </a:prstGeom>
        </p:spPr>
      </p:pic>
      <p:sp>
        <p:nvSpPr>
          <p:cNvPr id="7" name="Text 4"/>
          <p:cNvSpPr/>
          <p:nvPr/>
        </p:nvSpPr>
        <p:spPr>
          <a:xfrm>
            <a:off x="1331714" y="1943933"/>
            <a:ext cx="2250519" cy="230386"/>
          </a:xfrm>
          <a:prstGeom prst="rect">
            <a:avLst/>
          </a:prstGeom>
          <a:noFill/>
          <a:ln/>
        </p:spPr>
        <p:txBody>
          <a:bodyPr wrap="none" lIns="0" tIns="0" rIns="0" bIns="0" rtlCol="0" anchor="t"/>
          <a:lstStyle/>
          <a:p>
            <a:pPr marL="0" indent="0" algn="just">
              <a:lnSpc>
                <a:spcPts val="180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Tầng thu nhận (Camera)</a:t>
            </a:r>
            <a:endParaRPr lang="en-US" sz="2100" dirty="0">
              <a:latin typeface="Times New Roman" panose="02020603050405020304" pitchFamily="18" charset="0"/>
              <a:cs typeface="Times New Roman" panose="02020603050405020304" pitchFamily="18" charset="0"/>
            </a:endParaRPr>
          </a:p>
        </p:txBody>
      </p:sp>
      <p:sp>
        <p:nvSpPr>
          <p:cNvPr id="8" name="Text 5"/>
          <p:cNvSpPr/>
          <p:nvPr/>
        </p:nvSpPr>
        <p:spPr>
          <a:xfrm>
            <a:off x="1331714" y="2231707"/>
            <a:ext cx="12504896" cy="194548"/>
          </a:xfrm>
          <a:prstGeom prst="rect">
            <a:avLst/>
          </a:prstGeom>
          <a:noFill/>
          <a:ln/>
        </p:spPr>
        <p:txBody>
          <a:bodyPr wrap="none" lIns="0" tIns="0" rIns="0" bIns="0" rtlCol="0" anchor="t"/>
          <a:lstStyle/>
          <a:p>
            <a:pPr marL="0" indent="0" algn="just">
              <a:lnSpc>
                <a:spcPts val="150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Webcam thu nhận luồng ảnh 720p.</a:t>
            </a:r>
            <a:endParaRPr lang="en-US" sz="2100" dirty="0">
              <a:latin typeface="Times New Roman" panose="02020603050405020304" pitchFamily="18" charset="0"/>
              <a:cs typeface="Times New Roman" panose="02020603050405020304" pitchFamily="18" charset="0"/>
            </a:endParaRPr>
          </a:p>
        </p:txBody>
      </p:sp>
      <p:sp>
        <p:nvSpPr>
          <p:cNvPr id="9" name="Shape 6"/>
          <p:cNvSpPr/>
          <p:nvPr/>
        </p:nvSpPr>
        <p:spPr>
          <a:xfrm>
            <a:off x="1162288" y="2997875"/>
            <a:ext cx="147399" cy="663297"/>
          </a:xfrm>
          <a:prstGeom prst="roundRect">
            <a:avLst>
              <a:gd name="adj" fmla="val 42011"/>
            </a:avLst>
          </a:prstGeom>
          <a:solidFill>
            <a:srgbClr val="31136C"/>
          </a:solidFill>
          <a:ln w="7620">
            <a:solidFill>
              <a:srgbClr val="4A2C85"/>
            </a:solidFill>
            <a:prstDash val="solid"/>
          </a:ln>
        </p:spPr>
      </p:sp>
      <p:sp>
        <p:nvSpPr>
          <p:cNvPr id="10" name="Shape 7"/>
          <p:cNvSpPr/>
          <p:nvPr/>
        </p:nvSpPr>
        <p:spPr>
          <a:xfrm>
            <a:off x="1014889" y="2901077"/>
            <a:ext cx="442198" cy="442198"/>
          </a:xfrm>
          <a:prstGeom prst="roundRect">
            <a:avLst>
              <a:gd name="adj" fmla="val 103393"/>
            </a:avLst>
          </a:prstGeom>
          <a:solidFill>
            <a:srgbClr val="31136C"/>
          </a:solidFill>
          <a:ln w="7620">
            <a:solidFill>
              <a:srgbClr val="4A2C85"/>
            </a:solidFill>
            <a:prstDash val="solid"/>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5379" y="3011686"/>
            <a:ext cx="221099" cy="221099"/>
          </a:xfrm>
          <a:prstGeom prst="rect">
            <a:avLst/>
          </a:prstGeom>
        </p:spPr>
      </p:pic>
      <p:sp>
        <p:nvSpPr>
          <p:cNvPr id="12" name="Text 8"/>
          <p:cNvSpPr/>
          <p:nvPr/>
        </p:nvSpPr>
        <p:spPr>
          <a:xfrm>
            <a:off x="1552813" y="2924175"/>
            <a:ext cx="1842968" cy="230386"/>
          </a:xfrm>
          <a:prstGeom prst="rect">
            <a:avLst/>
          </a:prstGeom>
          <a:noFill/>
          <a:ln/>
        </p:spPr>
        <p:txBody>
          <a:bodyPr wrap="none" lIns="0" tIns="0" rIns="0" bIns="0" rtlCol="0" anchor="t"/>
          <a:lstStyle/>
          <a:p>
            <a:pPr marL="0" indent="0" algn="just">
              <a:lnSpc>
                <a:spcPts val="180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Tầng tiền xử lý</a:t>
            </a:r>
            <a:endParaRPr lang="en-US" sz="2100" dirty="0">
              <a:latin typeface="Times New Roman" panose="02020603050405020304" pitchFamily="18" charset="0"/>
              <a:cs typeface="Times New Roman" panose="02020603050405020304" pitchFamily="18" charset="0"/>
            </a:endParaRPr>
          </a:p>
        </p:txBody>
      </p:sp>
      <p:sp>
        <p:nvSpPr>
          <p:cNvPr id="13" name="Text 9"/>
          <p:cNvSpPr/>
          <p:nvPr/>
        </p:nvSpPr>
        <p:spPr>
          <a:xfrm>
            <a:off x="1552813" y="3211949"/>
            <a:ext cx="12283797" cy="194548"/>
          </a:xfrm>
          <a:prstGeom prst="rect">
            <a:avLst/>
          </a:prstGeom>
          <a:noFill/>
          <a:ln/>
        </p:spPr>
        <p:txBody>
          <a:bodyPr wrap="none" lIns="0" tIns="0" rIns="0" bIns="0" rtlCol="0" anchor="t"/>
          <a:lstStyle/>
          <a:p>
            <a:pPr marL="0" indent="0" algn="just">
              <a:lnSpc>
                <a:spcPts val="150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OpenCV xử lý lật ảnh và chuẩn hóa không gian màu.</a:t>
            </a:r>
            <a:endParaRPr lang="en-US" sz="2100" dirty="0">
              <a:latin typeface="Times New Roman" panose="02020603050405020304" pitchFamily="18" charset="0"/>
              <a:cs typeface="Times New Roman" panose="02020603050405020304" pitchFamily="18" charset="0"/>
            </a:endParaRPr>
          </a:p>
        </p:txBody>
      </p:sp>
      <p:sp>
        <p:nvSpPr>
          <p:cNvPr id="14" name="Shape 10"/>
          <p:cNvSpPr/>
          <p:nvPr/>
        </p:nvSpPr>
        <p:spPr>
          <a:xfrm>
            <a:off x="1383387" y="3978116"/>
            <a:ext cx="147399" cy="663297"/>
          </a:xfrm>
          <a:prstGeom prst="roundRect">
            <a:avLst>
              <a:gd name="adj" fmla="val 42011"/>
            </a:avLst>
          </a:prstGeom>
          <a:solidFill>
            <a:srgbClr val="31136C"/>
          </a:solidFill>
          <a:ln w="7620">
            <a:solidFill>
              <a:srgbClr val="4A2C85"/>
            </a:solidFill>
            <a:prstDash val="solid"/>
          </a:ln>
        </p:spPr>
      </p:sp>
      <p:sp>
        <p:nvSpPr>
          <p:cNvPr id="15" name="Shape 11"/>
          <p:cNvSpPr/>
          <p:nvPr/>
        </p:nvSpPr>
        <p:spPr>
          <a:xfrm>
            <a:off x="1235988" y="3881318"/>
            <a:ext cx="442198" cy="442198"/>
          </a:xfrm>
          <a:prstGeom prst="roundRect">
            <a:avLst>
              <a:gd name="adj" fmla="val 103393"/>
            </a:avLst>
          </a:prstGeom>
          <a:solidFill>
            <a:srgbClr val="31136C"/>
          </a:solidFill>
          <a:ln w="7620">
            <a:solidFill>
              <a:srgbClr val="4A2C85"/>
            </a:solidFill>
            <a:prstDash val="solid"/>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46478" y="3991927"/>
            <a:ext cx="221099" cy="221099"/>
          </a:xfrm>
          <a:prstGeom prst="rect">
            <a:avLst/>
          </a:prstGeom>
        </p:spPr>
      </p:pic>
      <p:sp>
        <p:nvSpPr>
          <p:cNvPr id="17" name="Text 12"/>
          <p:cNvSpPr/>
          <p:nvPr/>
        </p:nvSpPr>
        <p:spPr>
          <a:xfrm>
            <a:off x="1773912" y="3904417"/>
            <a:ext cx="1880235" cy="230386"/>
          </a:xfrm>
          <a:prstGeom prst="rect">
            <a:avLst/>
          </a:prstGeom>
          <a:noFill/>
          <a:ln/>
        </p:spPr>
        <p:txBody>
          <a:bodyPr wrap="none" lIns="0" tIns="0" rIns="0" bIns="0" rtlCol="0" anchor="t"/>
          <a:lstStyle/>
          <a:p>
            <a:pPr marL="0" indent="0" algn="just">
              <a:lnSpc>
                <a:spcPts val="180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Tầng AI (Perception)</a:t>
            </a:r>
            <a:endParaRPr lang="en-US" sz="2100" dirty="0">
              <a:latin typeface="Times New Roman" panose="02020603050405020304" pitchFamily="18" charset="0"/>
              <a:cs typeface="Times New Roman" panose="02020603050405020304" pitchFamily="18" charset="0"/>
            </a:endParaRPr>
          </a:p>
        </p:txBody>
      </p:sp>
      <p:sp>
        <p:nvSpPr>
          <p:cNvPr id="18" name="Text 13"/>
          <p:cNvSpPr/>
          <p:nvPr/>
        </p:nvSpPr>
        <p:spPr>
          <a:xfrm>
            <a:off x="1773912" y="4192191"/>
            <a:ext cx="12062698" cy="194548"/>
          </a:xfrm>
          <a:prstGeom prst="rect">
            <a:avLst/>
          </a:prstGeom>
          <a:noFill/>
          <a:ln/>
        </p:spPr>
        <p:txBody>
          <a:bodyPr wrap="none" lIns="0" tIns="0" rIns="0" bIns="0" rtlCol="0" anchor="t"/>
          <a:lstStyle/>
          <a:p>
            <a:pPr marL="0" indent="0" algn="just">
              <a:lnSpc>
                <a:spcPts val="150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MediaPipe trích xuất 21 điểm landmark chính xác.</a:t>
            </a:r>
            <a:endParaRPr lang="en-US" sz="2100" dirty="0">
              <a:latin typeface="Times New Roman" panose="02020603050405020304" pitchFamily="18" charset="0"/>
              <a:cs typeface="Times New Roman" panose="02020603050405020304" pitchFamily="18" charset="0"/>
            </a:endParaRPr>
          </a:p>
        </p:txBody>
      </p:sp>
      <p:sp>
        <p:nvSpPr>
          <p:cNvPr id="19" name="Shape 14"/>
          <p:cNvSpPr/>
          <p:nvPr/>
        </p:nvSpPr>
        <p:spPr>
          <a:xfrm>
            <a:off x="1604605" y="4958358"/>
            <a:ext cx="147399" cy="663297"/>
          </a:xfrm>
          <a:prstGeom prst="roundRect">
            <a:avLst>
              <a:gd name="adj" fmla="val 42011"/>
            </a:avLst>
          </a:prstGeom>
          <a:solidFill>
            <a:srgbClr val="31136C"/>
          </a:solidFill>
          <a:ln w="7620">
            <a:solidFill>
              <a:srgbClr val="4A2C85"/>
            </a:solidFill>
            <a:prstDash val="solid"/>
          </a:ln>
        </p:spPr>
      </p:sp>
      <p:sp>
        <p:nvSpPr>
          <p:cNvPr id="20" name="Shape 15"/>
          <p:cNvSpPr/>
          <p:nvPr/>
        </p:nvSpPr>
        <p:spPr>
          <a:xfrm>
            <a:off x="1457206" y="4861560"/>
            <a:ext cx="442198" cy="442198"/>
          </a:xfrm>
          <a:prstGeom prst="roundRect">
            <a:avLst>
              <a:gd name="adj" fmla="val 103393"/>
            </a:avLst>
          </a:prstGeom>
          <a:solidFill>
            <a:srgbClr val="31136C"/>
          </a:solidFill>
          <a:ln w="7620">
            <a:solidFill>
              <a:srgbClr val="4A2C85"/>
            </a:solidFill>
            <a:prstDash val="solid"/>
          </a:ln>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567696" y="4972169"/>
            <a:ext cx="221099" cy="221099"/>
          </a:xfrm>
          <a:prstGeom prst="rect">
            <a:avLst/>
          </a:prstGeom>
        </p:spPr>
      </p:pic>
      <p:sp>
        <p:nvSpPr>
          <p:cNvPr id="22" name="Text 16"/>
          <p:cNvSpPr/>
          <p:nvPr/>
        </p:nvSpPr>
        <p:spPr>
          <a:xfrm>
            <a:off x="1995130" y="4884658"/>
            <a:ext cx="2474833" cy="230386"/>
          </a:xfrm>
          <a:prstGeom prst="rect">
            <a:avLst/>
          </a:prstGeom>
          <a:noFill/>
          <a:ln/>
        </p:spPr>
        <p:txBody>
          <a:bodyPr wrap="none" lIns="0" tIns="0" rIns="0" bIns="0" rtlCol="0" anchor="t"/>
          <a:lstStyle/>
          <a:p>
            <a:pPr marL="0" indent="0" algn="just">
              <a:lnSpc>
                <a:spcPts val="180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Tầng quyết định (Decision)</a:t>
            </a:r>
            <a:endParaRPr lang="en-US" sz="2100" dirty="0">
              <a:latin typeface="Times New Roman" panose="02020603050405020304" pitchFamily="18" charset="0"/>
              <a:cs typeface="Times New Roman" panose="02020603050405020304" pitchFamily="18" charset="0"/>
            </a:endParaRPr>
          </a:p>
        </p:txBody>
      </p:sp>
      <p:sp>
        <p:nvSpPr>
          <p:cNvPr id="23" name="Text 17"/>
          <p:cNvSpPr/>
          <p:nvPr/>
        </p:nvSpPr>
        <p:spPr>
          <a:xfrm>
            <a:off x="1995130" y="5172432"/>
            <a:ext cx="11841480" cy="194548"/>
          </a:xfrm>
          <a:prstGeom prst="rect">
            <a:avLst/>
          </a:prstGeom>
          <a:noFill/>
          <a:ln/>
        </p:spPr>
        <p:txBody>
          <a:bodyPr wrap="none" lIns="0" tIns="0" rIns="0" bIns="0" rtlCol="0" anchor="t"/>
          <a:lstStyle/>
          <a:p>
            <a:pPr marL="0" indent="0" algn="just">
              <a:lnSpc>
                <a:spcPts val="150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Thuật toán Rule-based phân loại cử chỉ người chơi.</a:t>
            </a:r>
            <a:endParaRPr lang="en-US" sz="2100" dirty="0">
              <a:latin typeface="Times New Roman" panose="02020603050405020304" pitchFamily="18" charset="0"/>
              <a:cs typeface="Times New Roman" panose="02020603050405020304" pitchFamily="18" charset="0"/>
            </a:endParaRPr>
          </a:p>
        </p:txBody>
      </p:sp>
      <p:sp>
        <p:nvSpPr>
          <p:cNvPr id="24" name="Shape 18"/>
          <p:cNvSpPr/>
          <p:nvPr/>
        </p:nvSpPr>
        <p:spPr>
          <a:xfrm>
            <a:off x="1383387" y="5938599"/>
            <a:ext cx="147399" cy="663297"/>
          </a:xfrm>
          <a:prstGeom prst="roundRect">
            <a:avLst>
              <a:gd name="adj" fmla="val 42011"/>
            </a:avLst>
          </a:prstGeom>
          <a:solidFill>
            <a:srgbClr val="31136C"/>
          </a:solidFill>
          <a:ln w="7620">
            <a:solidFill>
              <a:srgbClr val="4A2C85"/>
            </a:solidFill>
            <a:prstDash val="solid"/>
          </a:ln>
        </p:spPr>
      </p:sp>
      <p:sp>
        <p:nvSpPr>
          <p:cNvPr id="25" name="Shape 19"/>
          <p:cNvSpPr/>
          <p:nvPr/>
        </p:nvSpPr>
        <p:spPr>
          <a:xfrm>
            <a:off x="1235988" y="5841802"/>
            <a:ext cx="442198" cy="442198"/>
          </a:xfrm>
          <a:prstGeom prst="roundRect">
            <a:avLst>
              <a:gd name="adj" fmla="val 103393"/>
            </a:avLst>
          </a:prstGeom>
          <a:solidFill>
            <a:srgbClr val="31136C"/>
          </a:solidFill>
          <a:ln w="7620">
            <a:solidFill>
              <a:srgbClr val="4A2C85"/>
            </a:solidFill>
            <a:prstDash val="solid"/>
          </a:ln>
        </p:spPr>
      </p:sp>
      <p:pic>
        <p:nvPicPr>
          <p:cNvPr id="2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46478" y="5952411"/>
            <a:ext cx="221099" cy="221099"/>
          </a:xfrm>
          <a:prstGeom prst="rect">
            <a:avLst/>
          </a:prstGeom>
        </p:spPr>
      </p:pic>
      <p:sp>
        <p:nvSpPr>
          <p:cNvPr id="27" name="Text 20"/>
          <p:cNvSpPr/>
          <p:nvPr/>
        </p:nvSpPr>
        <p:spPr>
          <a:xfrm>
            <a:off x="1773912" y="5864900"/>
            <a:ext cx="1842968" cy="230386"/>
          </a:xfrm>
          <a:prstGeom prst="rect">
            <a:avLst/>
          </a:prstGeom>
          <a:noFill/>
          <a:ln/>
        </p:spPr>
        <p:txBody>
          <a:bodyPr wrap="none" lIns="0" tIns="0" rIns="0" bIns="0" rtlCol="0" anchor="t"/>
          <a:lstStyle/>
          <a:p>
            <a:pPr marL="0" indent="0" algn="just">
              <a:lnSpc>
                <a:spcPts val="180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Tầng logic game</a:t>
            </a:r>
            <a:endParaRPr lang="en-US" sz="2100" dirty="0">
              <a:latin typeface="Times New Roman" panose="02020603050405020304" pitchFamily="18" charset="0"/>
              <a:cs typeface="Times New Roman" panose="02020603050405020304" pitchFamily="18" charset="0"/>
            </a:endParaRPr>
          </a:p>
        </p:txBody>
      </p:sp>
      <p:sp>
        <p:nvSpPr>
          <p:cNvPr id="28" name="Text 21"/>
          <p:cNvSpPr/>
          <p:nvPr/>
        </p:nvSpPr>
        <p:spPr>
          <a:xfrm>
            <a:off x="1773912" y="6152674"/>
            <a:ext cx="12062698" cy="194548"/>
          </a:xfrm>
          <a:prstGeom prst="rect">
            <a:avLst/>
          </a:prstGeom>
          <a:noFill/>
          <a:ln/>
        </p:spPr>
        <p:txBody>
          <a:bodyPr wrap="none" lIns="0" tIns="0" rIns="0" bIns="0" rtlCol="0" anchor="t"/>
          <a:lstStyle/>
          <a:p>
            <a:pPr marL="0" indent="0" algn="just">
              <a:lnSpc>
                <a:spcPts val="150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Máy tính ra chiêu ngẫu nhiên, hệ thống so sánh kết quả và áp dụng thể thức Best of 3 (Thắng 3 ván trước).</a:t>
            </a:r>
            <a:endParaRPr lang="en-US" sz="2100" dirty="0">
              <a:latin typeface="Times New Roman" panose="02020603050405020304" pitchFamily="18" charset="0"/>
              <a:cs typeface="Times New Roman" panose="02020603050405020304" pitchFamily="18" charset="0"/>
            </a:endParaRPr>
          </a:p>
        </p:txBody>
      </p:sp>
      <p:sp>
        <p:nvSpPr>
          <p:cNvPr id="29" name="Shape 22"/>
          <p:cNvSpPr/>
          <p:nvPr/>
        </p:nvSpPr>
        <p:spPr>
          <a:xfrm>
            <a:off x="1162288" y="6918841"/>
            <a:ext cx="147399" cy="663297"/>
          </a:xfrm>
          <a:prstGeom prst="roundRect">
            <a:avLst>
              <a:gd name="adj" fmla="val 42011"/>
            </a:avLst>
          </a:prstGeom>
          <a:solidFill>
            <a:srgbClr val="31136C"/>
          </a:solidFill>
          <a:ln w="7620">
            <a:solidFill>
              <a:srgbClr val="4A2C85"/>
            </a:solidFill>
            <a:prstDash val="solid"/>
          </a:ln>
        </p:spPr>
      </p:sp>
      <p:sp>
        <p:nvSpPr>
          <p:cNvPr id="30" name="Shape 23"/>
          <p:cNvSpPr/>
          <p:nvPr/>
        </p:nvSpPr>
        <p:spPr>
          <a:xfrm>
            <a:off x="1014889" y="6822043"/>
            <a:ext cx="442198" cy="442198"/>
          </a:xfrm>
          <a:prstGeom prst="roundRect">
            <a:avLst>
              <a:gd name="adj" fmla="val 103393"/>
            </a:avLst>
          </a:prstGeom>
          <a:solidFill>
            <a:srgbClr val="31136C"/>
          </a:solidFill>
          <a:ln w="7620">
            <a:solidFill>
              <a:srgbClr val="4A2C85"/>
            </a:solidFill>
            <a:prstDash val="solid"/>
          </a:ln>
        </p:spPr>
      </p:sp>
      <p:pic>
        <p:nvPicPr>
          <p:cNvPr id="31"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25379" y="6932652"/>
            <a:ext cx="221099" cy="221099"/>
          </a:xfrm>
          <a:prstGeom prst="rect">
            <a:avLst/>
          </a:prstGeom>
        </p:spPr>
      </p:pic>
      <p:sp>
        <p:nvSpPr>
          <p:cNvPr id="32" name="Text 24"/>
          <p:cNvSpPr/>
          <p:nvPr/>
        </p:nvSpPr>
        <p:spPr>
          <a:xfrm>
            <a:off x="1552813" y="6845141"/>
            <a:ext cx="1842968" cy="230386"/>
          </a:xfrm>
          <a:prstGeom prst="rect">
            <a:avLst/>
          </a:prstGeom>
          <a:noFill/>
          <a:ln/>
        </p:spPr>
        <p:txBody>
          <a:bodyPr wrap="none" lIns="0" tIns="0" rIns="0" bIns="0" rtlCol="0" anchor="t"/>
          <a:lstStyle/>
          <a:p>
            <a:pPr marL="0" indent="0" algn="just">
              <a:lnSpc>
                <a:spcPts val="180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Tầng ứng dụng</a:t>
            </a:r>
            <a:endParaRPr lang="en-US" sz="2100" dirty="0">
              <a:latin typeface="Times New Roman" panose="02020603050405020304" pitchFamily="18" charset="0"/>
              <a:cs typeface="Times New Roman" panose="02020603050405020304" pitchFamily="18" charset="0"/>
            </a:endParaRPr>
          </a:p>
        </p:txBody>
      </p:sp>
      <p:sp>
        <p:nvSpPr>
          <p:cNvPr id="33" name="Text 25"/>
          <p:cNvSpPr/>
          <p:nvPr/>
        </p:nvSpPr>
        <p:spPr>
          <a:xfrm>
            <a:off x="1552813" y="7132915"/>
            <a:ext cx="12283797" cy="194548"/>
          </a:xfrm>
          <a:prstGeom prst="rect">
            <a:avLst/>
          </a:prstGeom>
          <a:noFill/>
          <a:ln/>
        </p:spPr>
        <p:txBody>
          <a:bodyPr wrap="none" lIns="0" tIns="0" rIns="0" bIns="0" rtlCol="0" anchor="t"/>
          <a:lstStyle/>
          <a:p>
            <a:pPr marL="0" indent="0" algn="just">
              <a:lnSpc>
                <a:spcPts val="150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Flask API thực hiện lưu trữ vào SQL Server qua các bảng NguoiDung, TranDau và KetQuaChungCuoc.</a:t>
            </a:r>
            <a:endParaRPr lang="en-US" sz="2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86171" y="879991"/>
            <a:ext cx="13050440" cy="708779"/>
          </a:xfrm>
          <a:prstGeom prst="rect">
            <a:avLst/>
          </a:prstGeom>
          <a:noFill/>
          <a:ln/>
        </p:spPr>
        <p:txBody>
          <a:bodyPr wrap="none" lIns="0" tIns="0" rIns="0" bIns="0" rtlCol="0" anchor="t"/>
          <a:lstStyle/>
          <a:p>
            <a:pPr marL="0" indent="0" algn="ctr">
              <a:lnSpc>
                <a:spcPts val="5550"/>
              </a:lnSpc>
              <a:buNone/>
            </a:pPr>
            <a:r>
              <a:rPr lang="en-US" sz="5400" dirty="0">
                <a:solidFill>
                  <a:srgbClr val="F2F0F4"/>
                </a:solidFill>
                <a:latin typeface="Times New Roman" panose="02020603050405020304" pitchFamily="18" charset="0"/>
                <a:ea typeface="Montserrat" pitchFamily="34" charset="-122"/>
                <a:cs typeface="Times New Roman" panose="02020603050405020304" pitchFamily="18" charset="0"/>
              </a:rPr>
              <a:t>Môi trường thực nghiệm và Cấu hình</a:t>
            </a:r>
            <a:endParaRPr lang="en-US" sz="5400" dirty="0">
              <a:latin typeface="Times New Roman" panose="02020603050405020304" pitchFamily="18" charset="0"/>
              <a:cs typeface="Times New Roman" panose="02020603050405020304" pitchFamily="18" charset="0"/>
            </a:endParaRPr>
          </a:p>
        </p:txBody>
      </p:sp>
      <p:sp>
        <p:nvSpPr>
          <p:cNvPr id="3" name="Text 1"/>
          <p:cNvSpPr/>
          <p:nvPr/>
        </p:nvSpPr>
        <p:spPr>
          <a:xfrm>
            <a:off x="793790" y="2751177"/>
            <a:ext cx="13042821" cy="362903"/>
          </a:xfrm>
          <a:prstGeom prst="rect">
            <a:avLst/>
          </a:prstGeom>
          <a:noFill/>
          <a:ln/>
        </p:spPr>
        <p:txBody>
          <a:bodyPr wrap="non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Quá trình kiểm thử và vận hành được thực hiện trong điều kiện tiêu chuẩn để đảm bảo tính khách quan:</a:t>
            </a:r>
            <a:endParaRPr lang="en-US" sz="2100" dirty="0">
              <a:latin typeface="Times New Roman" panose="02020603050405020304" pitchFamily="18" charset="0"/>
              <a:cs typeface="Times New Roman" panose="02020603050405020304" pitchFamily="18" charset="0"/>
            </a:endParaRPr>
          </a:p>
        </p:txBody>
      </p:sp>
      <p:sp>
        <p:nvSpPr>
          <p:cNvPr id="4" name="Text 2"/>
          <p:cNvSpPr/>
          <p:nvPr/>
        </p:nvSpPr>
        <p:spPr>
          <a:xfrm>
            <a:off x="793790" y="3596045"/>
            <a:ext cx="2905482" cy="354330"/>
          </a:xfrm>
          <a:prstGeom prst="rect">
            <a:avLst/>
          </a:prstGeom>
          <a:noFill/>
          <a:ln/>
        </p:spPr>
        <p:txBody>
          <a:bodyPr wrap="none" lIns="0" tIns="0" rIns="0" bIns="0" rtlCol="0" anchor="t"/>
          <a:lstStyle/>
          <a:p>
            <a:pPr marL="0" indent="0" algn="just">
              <a:lnSpc>
                <a:spcPts val="2750"/>
              </a:lnSpc>
              <a:buNone/>
            </a:pPr>
            <a:r>
              <a:rPr lang="en-US" sz="2100" dirty="0">
                <a:solidFill>
                  <a:srgbClr val="481C9E"/>
                </a:solidFill>
                <a:latin typeface="Times New Roman" panose="02020603050405020304" pitchFamily="18" charset="0"/>
                <a:ea typeface="Montserrat" pitchFamily="34" charset="-122"/>
                <a:cs typeface="Times New Roman" panose="02020603050405020304" pitchFamily="18" charset="0"/>
              </a:rPr>
              <a:t>Cấu hình phần cứng</a:t>
            </a:r>
            <a:endParaRPr lang="en-US" sz="2100" dirty="0">
              <a:latin typeface="Times New Roman" panose="02020603050405020304" pitchFamily="18" charset="0"/>
              <a:cs typeface="Times New Roman" panose="02020603050405020304" pitchFamily="18" charset="0"/>
            </a:endParaRPr>
          </a:p>
        </p:txBody>
      </p:sp>
      <p:sp>
        <p:nvSpPr>
          <p:cNvPr id="5" name="Text 3"/>
          <p:cNvSpPr/>
          <p:nvPr/>
        </p:nvSpPr>
        <p:spPr>
          <a:xfrm>
            <a:off x="793790" y="4177189"/>
            <a:ext cx="6244709" cy="725805"/>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Máy tính trang bị CPU Intel Core i5, RAM 8GB – đủ khả năng xử lý các phép toán ma trận phức tạp theo thời gian thực.</a:t>
            </a:r>
            <a:endParaRPr lang="en-US" sz="2100" dirty="0">
              <a:latin typeface="Times New Roman" panose="02020603050405020304" pitchFamily="18" charset="0"/>
              <a:cs typeface="Times New Roman" panose="02020603050405020304" pitchFamily="18" charset="0"/>
            </a:endParaRPr>
          </a:p>
        </p:txBody>
      </p:sp>
      <p:sp>
        <p:nvSpPr>
          <p:cNvPr id="6" name="Text 4"/>
          <p:cNvSpPr/>
          <p:nvPr/>
        </p:nvSpPr>
        <p:spPr>
          <a:xfrm>
            <a:off x="793790" y="5522357"/>
            <a:ext cx="2944892" cy="354330"/>
          </a:xfrm>
          <a:prstGeom prst="rect">
            <a:avLst/>
          </a:prstGeom>
          <a:noFill/>
          <a:ln/>
        </p:spPr>
        <p:txBody>
          <a:bodyPr wrap="none" lIns="0" tIns="0" rIns="0" bIns="0" rtlCol="0" anchor="t"/>
          <a:lstStyle/>
          <a:p>
            <a:pPr marL="0" indent="0" algn="just">
              <a:lnSpc>
                <a:spcPts val="2750"/>
              </a:lnSpc>
              <a:buNone/>
            </a:pPr>
            <a:r>
              <a:rPr lang="en-US" sz="2100" dirty="0">
                <a:solidFill>
                  <a:srgbClr val="481C9E"/>
                </a:solidFill>
                <a:latin typeface="Times New Roman" panose="02020603050405020304" pitchFamily="18" charset="0"/>
                <a:ea typeface="Montserrat" pitchFamily="34" charset="-122"/>
                <a:cs typeface="Times New Roman" panose="02020603050405020304" pitchFamily="18" charset="0"/>
              </a:rPr>
              <a:t>Cấu hình phần mềm</a:t>
            </a:r>
            <a:endParaRPr lang="en-US" sz="2100" dirty="0">
              <a:latin typeface="Times New Roman" panose="02020603050405020304" pitchFamily="18" charset="0"/>
              <a:cs typeface="Times New Roman" panose="02020603050405020304" pitchFamily="18" charset="0"/>
            </a:endParaRPr>
          </a:p>
        </p:txBody>
      </p:sp>
      <p:sp>
        <p:nvSpPr>
          <p:cNvPr id="7" name="Text 5"/>
          <p:cNvSpPr/>
          <p:nvPr/>
        </p:nvSpPr>
        <p:spPr>
          <a:xfrm>
            <a:off x="793790" y="5966103"/>
            <a:ext cx="6244709" cy="725805"/>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Sử dụng Python làm ngôn ngữ chủ đạo cùng các thư viện bổ trợ như MediaPipe, OpenCV, Flask và Numpy.</a:t>
            </a:r>
            <a:endParaRPr lang="en-US" sz="2100" dirty="0">
              <a:latin typeface="Times New Roman" panose="02020603050405020304" pitchFamily="18" charset="0"/>
              <a:cs typeface="Times New Roman" panose="02020603050405020304" pitchFamily="18" charset="0"/>
            </a:endParaRPr>
          </a:p>
        </p:txBody>
      </p:sp>
      <p:sp>
        <p:nvSpPr>
          <p:cNvPr id="8" name="Text 6"/>
          <p:cNvSpPr/>
          <p:nvPr/>
        </p:nvSpPr>
        <p:spPr>
          <a:xfrm>
            <a:off x="7599521" y="3596045"/>
            <a:ext cx="2835235" cy="354330"/>
          </a:xfrm>
          <a:prstGeom prst="rect">
            <a:avLst/>
          </a:prstGeom>
          <a:noFill/>
          <a:ln/>
        </p:spPr>
        <p:txBody>
          <a:bodyPr wrap="none" lIns="0" tIns="0" rIns="0" bIns="0" rtlCol="0" anchor="t"/>
          <a:lstStyle/>
          <a:p>
            <a:pPr marL="0" indent="0" algn="just">
              <a:lnSpc>
                <a:spcPts val="2750"/>
              </a:lnSpc>
              <a:buNone/>
            </a:pPr>
            <a:r>
              <a:rPr lang="en-US" sz="2100" dirty="0">
                <a:solidFill>
                  <a:srgbClr val="481C9E"/>
                </a:solidFill>
                <a:latin typeface="Times New Roman" panose="02020603050405020304" pitchFamily="18" charset="0"/>
                <a:ea typeface="Montserrat" pitchFamily="34" charset="-122"/>
                <a:cs typeface="Times New Roman" panose="02020603050405020304" pitchFamily="18" charset="0"/>
              </a:rPr>
              <a:t>Siêu tham số AI</a:t>
            </a:r>
            <a:endParaRPr lang="en-US" sz="2100" dirty="0">
              <a:latin typeface="Times New Roman" panose="02020603050405020304" pitchFamily="18" charset="0"/>
              <a:cs typeface="Times New Roman" panose="02020603050405020304" pitchFamily="18" charset="0"/>
            </a:endParaRPr>
          </a:p>
        </p:txBody>
      </p:sp>
      <p:sp>
        <p:nvSpPr>
          <p:cNvPr id="9" name="Text 7"/>
          <p:cNvSpPr/>
          <p:nvPr/>
        </p:nvSpPr>
        <p:spPr>
          <a:xfrm>
            <a:off x="7599521" y="4177189"/>
            <a:ext cx="6244709" cy="2336006"/>
          </a:xfrm>
          <a:prstGeom prst="rect">
            <a:avLst/>
          </a:prstGeom>
          <a:noFill/>
          <a:ln/>
        </p:spPr>
        <p:txBody>
          <a:bodyPr wrap="square" lIns="0" tIns="0" rIns="0" bIns="0" rtlCol="0" anchor="t"/>
          <a:lstStyle/>
          <a:p>
            <a:pPr marL="342900" indent="-342900" algn="just">
              <a:lnSpc>
                <a:spcPts val="2850"/>
              </a:lnSpc>
              <a:buSzPct val="100000"/>
              <a:buChar char="•"/>
            </a:pPr>
            <a:r>
              <a:rPr lang="en-US" sz="2100" b="1" dirty="0">
                <a:solidFill>
                  <a:srgbClr val="DCD7E5"/>
                </a:solidFill>
                <a:latin typeface="Times New Roman" panose="02020603050405020304" pitchFamily="18" charset="0"/>
                <a:ea typeface="Heebo Light" pitchFamily="34" charset="-122"/>
                <a:cs typeface="Times New Roman" panose="02020603050405020304" pitchFamily="18" charset="0"/>
              </a:rPr>
              <a:t>static_image_mode = False:</a:t>
            </a: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 Tối ưu hóa cho video để tận dụng sự liên quan giữa các khung hình liên tiếp.</a:t>
            </a:r>
            <a:endParaRPr lang="en-US" sz="2100" dirty="0">
              <a:latin typeface="Times New Roman" panose="02020603050405020304" pitchFamily="18" charset="0"/>
              <a:cs typeface="Times New Roman" panose="02020603050405020304" pitchFamily="18" charset="0"/>
            </a:endParaRPr>
          </a:p>
          <a:p>
            <a:pPr marL="342900" indent="-342900" algn="just">
              <a:lnSpc>
                <a:spcPts val="2850"/>
              </a:lnSpc>
              <a:buSzPct val="100000"/>
              <a:buChar char="•"/>
            </a:pPr>
            <a:r>
              <a:rPr lang="en-US" sz="2100" b="1" dirty="0">
                <a:solidFill>
                  <a:srgbClr val="DCD7E5"/>
                </a:solidFill>
                <a:latin typeface="Times New Roman" panose="02020603050405020304" pitchFamily="18" charset="0"/>
                <a:ea typeface="Heebo Light" pitchFamily="34" charset="-122"/>
                <a:cs typeface="Times New Roman" panose="02020603050405020304" pitchFamily="18" charset="0"/>
              </a:rPr>
              <a:t>min_detection_confidence = 0.7:</a:t>
            </a: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 Loại bỏ các vật thể gây nhiễu trong nền có hình dáng tương tự bàn tay.</a:t>
            </a:r>
            <a:endParaRPr lang="en-US" sz="2100" dirty="0">
              <a:latin typeface="Times New Roman" panose="02020603050405020304" pitchFamily="18" charset="0"/>
              <a:cs typeface="Times New Roman" panose="02020603050405020304" pitchFamily="18" charset="0"/>
            </a:endParaRPr>
          </a:p>
          <a:p>
            <a:pPr marL="342900" indent="-342900" algn="just">
              <a:lnSpc>
                <a:spcPts val="2850"/>
              </a:lnSpc>
              <a:buSzPct val="100000"/>
              <a:buChar char="•"/>
            </a:pPr>
            <a:r>
              <a:rPr lang="en-US" sz="2100" b="1" dirty="0">
                <a:solidFill>
                  <a:srgbClr val="DCD7E5"/>
                </a:solidFill>
                <a:latin typeface="Times New Roman" panose="02020603050405020304" pitchFamily="18" charset="0"/>
                <a:ea typeface="Heebo Light" pitchFamily="34" charset="-122"/>
                <a:cs typeface="Times New Roman" panose="02020603050405020304" pitchFamily="18" charset="0"/>
              </a:rPr>
              <a:t>min_tracking_confidence = 0.7:</a:t>
            </a: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 Duy trì sự ổn định của các điểm mốc ngay cả khi người chơi di chuyển tay nhanh.</a:t>
            </a:r>
            <a:endParaRPr lang="en-US" sz="2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670" y="864423"/>
            <a:ext cx="13042821" cy="708779"/>
          </a:xfrm>
          <a:prstGeom prst="rect">
            <a:avLst/>
          </a:prstGeom>
          <a:noFill/>
          <a:ln/>
        </p:spPr>
        <p:txBody>
          <a:bodyPr wrap="none" lIns="0" tIns="0" rIns="0" bIns="0" rtlCol="0" anchor="t"/>
          <a:lstStyle/>
          <a:p>
            <a:pPr marL="0" indent="0" algn="ctr">
              <a:lnSpc>
                <a:spcPts val="5550"/>
              </a:lnSpc>
              <a:buNone/>
            </a:pPr>
            <a:r>
              <a:rPr lang="en-US" sz="5400" dirty="0">
                <a:solidFill>
                  <a:srgbClr val="F2F0F4"/>
                </a:solidFill>
                <a:latin typeface="Times New Roman" panose="02020603050405020304" pitchFamily="18" charset="0"/>
                <a:ea typeface="Montserrat" pitchFamily="34" charset="-122"/>
                <a:cs typeface="Times New Roman" panose="02020603050405020304" pitchFamily="18" charset="0"/>
              </a:rPr>
              <a:t>Tiêu chí và Kết quả thực nghiệm</a:t>
            </a:r>
            <a:endParaRPr lang="en-US" sz="5400" dirty="0">
              <a:latin typeface="Times New Roman" panose="02020603050405020304" pitchFamily="18" charset="0"/>
              <a:cs typeface="Times New Roman" panose="02020603050405020304" pitchFamily="18" charset="0"/>
            </a:endParaRPr>
          </a:p>
        </p:txBody>
      </p:sp>
      <p:sp>
        <p:nvSpPr>
          <p:cNvPr id="3" name="Text 1"/>
          <p:cNvSpPr/>
          <p:nvPr/>
        </p:nvSpPr>
        <p:spPr>
          <a:xfrm>
            <a:off x="793790" y="2455664"/>
            <a:ext cx="13042821" cy="362903"/>
          </a:xfrm>
          <a:prstGeom prst="rect">
            <a:avLst/>
          </a:prstGeom>
          <a:noFill/>
          <a:ln/>
        </p:spPr>
        <p:txBody>
          <a:bodyPr wrap="non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Hệ thống được đánh giá dựa trên các chỉ số định lượng và trải nghiệm định tính:</a:t>
            </a:r>
            <a:endParaRPr lang="en-US" sz="2100" dirty="0">
              <a:latin typeface="Times New Roman" panose="02020603050405020304" pitchFamily="18" charset="0"/>
              <a:cs typeface="Times New Roman" panose="02020603050405020304" pitchFamily="18" charset="0"/>
            </a:endParaRPr>
          </a:p>
        </p:txBody>
      </p:sp>
      <p:sp>
        <p:nvSpPr>
          <p:cNvPr id="4" name="Shape 2"/>
          <p:cNvSpPr/>
          <p:nvPr/>
        </p:nvSpPr>
        <p:spPr>
          <a:xfrm>
            <a:off x="793790" y="3436620"/>
            <a:ext cx="4196358" cy="3136702"/>
          </a:xfrm>
          <a:prstGeom prst="roundRect">
            <a:avLst>
              <a:gd name="adj" fmla="val 3037"/>
            </a:avLst>
          </a:prstGeom>
          <a:solidFill>
            <a:srgbClr val="31136C"/>
          </a:solidFill>
          <a:ln w="7620">
            <a:solidFill>
              <a:srgbClr val="4A2C85"/>
            </a:solidFill>
            <a:prstDash val="solid"/>
          </a:ln>
        </p:spPr>
      </p:sp>
      <p:sp>
        <p:nvSpPr>
          <p:cNvPr id="5" name="Text 3"/>
          <p:cNvSpPr/>
          <p:nvPr/>
        </p:nvSpPr>
        <p:spPr>
          <a:xfrm>
            <a:off x="1028224" y="3671054"/>
            <a:ext cx="3395663" cy="354330"/>
          </a:xfrm>
          <a:prstGeom prst="rect">
            <a:avLst/>
          </a:prstGeom>
          <a:noFill/>
          <a:ln/>
        </p:spPr>
        <p:txBody>
          <a:bodyPr wrap="none" lIns="0" tIns="0" rIns="0" bIns="0" rtlCol="0" anchor="t"/>
          <a:lstStyle/>
          <a:p>
            <a:pPr marL="0" indent="0" algn="just">
              <a:lnSpc>
                <a:spcPts val="275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Độ chính xác (Accuracy)</a:t>
            </a:r>
            <a:endParaRPr lang="en-US" sz="2100" dirty="0">
              <a:latin typeface="Times New Roman" panose="02020603050405020304" pitchFamily="18" charset="0"/>
              <a:cs typeface="Times New Roman" panose="02020603050405020304" pitchFamily="18" charset="0"/>
            </a:endParaRPr>
          </a:p>
        </p:txBody>
      </p:sp>
      <p:sp>
        <p:nvSpPr>
          <p:cNvPr id="6" name="Text 4"/>
          <p:cNvSpPr/>
          <p:nvPr/>
        </p:nvSpPr>
        <p:spPr>
          <a:xfrm>
            <a:off x="1028224" y="4161472"/>
            <a:ext cx="3727490" cy="1814513"/>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Cử chỉ "Búa" đạt độ tin cậy cao nhất do cấu trúc nắm đấm có tính đặc trưng hình học mạnh mẽ. Cử chỉ "Kéo" và "Bao" hoạt động ổn định nhờ thuật toán logic khắt khe.</a:t>
            </a:r>
            <a:endParaRPr lang="en-US" sz="2100" dirty="0">
              <a:latin typeface="Times New Roman" panose="02020603050405020304" pitchFamily="18" charset="0"/>
              <a:cs typeface="Times New Roman" panose="02020603050405020304" pitchFamily="18" charset="0"/>
            </a:endParaRPr>
          </a:p>
        </p:txBody>
      </p:sp>
      <p:sp>
        <p:nvSpPr>
          <p:cNvPr id="7" name="Shape 5"/>
          <p:cNvSpPr/>
          <p:nvPr/>
        </p:nvSpPr>
        <p:spPr>
          <a:xfrm>
            <a:off x="5216962" y="3436620"/>
            <a:ext cx="4196358" cy="3136702"/>
          </a:xfrm>
          <a:prstGeom prst="roundRect">
            <a:avLst>
              <a:gd name="adj" fmla="val 3037"/>
            </a:avLst>
          </a:prstGeom>
          <a:solidFill>
            <a:srgbClr val="31136C"/>
          </a:solidFill>
          <a:ln w="7620">
            <a:solidFill>
              <a:srgbClr val="4A2C85"/>
            </a:solidFill>
            <a:prstDash val="solid"/>
          </a:ln>
        </p:spPr>
      </p:sp>
      <p:sp>
        <p:nvSpPr>
          <p:cNvPr id="8" name="Text 6"/>
          <p:cNvSpPr/>
          <p:nvPr/>
        </p:nvSpPr>
        <p:spPr>
          <a:xfrm>
            <a:off x="5451396" y="3671054"/>
            <a:ext cx="3581043" cy="354330"/>
          </a:xfrm>
          <a:prstGeom prst="rect">
            <a:avLst/>
          </a:prstGeom>
          <a:noFill/>
          <a:ln/>
        </p:spPr>
        <p:txBody>
          <a:bodyPr wrap="none" lIns="0" tIns="0" rIns="0" bIns="0" rtlCol="0" anchor="t"/>
          <a:lstStyle/>
          <a:p>
            <a:pPr marL="0" indent="0" algn="just">
              <a:lnSpc>
                <a:spcPts val="275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Tốc độ đáp ứng (Latency)</a:t>
            </a:r>
            <a:endParaRPr lang="en-US" sz="2100" dirty="0">
              <a:latin typeface="Times New Roman" panose="02020603050405020304" pitchFamily="18" charset="0"/>
              <a:cs typeface="Times New Roman" panose="02020603050405020304" pitchFamily="18" charset="0"/>
            </a:endParaRPr>
          </a:p>
        </p:txBody>
      </p:sp>
      <p:sp>
        <p:nvSpPr>
          <p:cNvPr id="9" name="Text 7"/>
          <p:cNvSpPr/>
          <p:nvPr/>
        </p:nvSpPr>
        <p:spPr>
          <a:xfrm>
            <a:off x="5451396" y="4161472"/>
            <a:ext cx="3727490" cy="1451610"/>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Duy trì tốc độ 25-30 FPS, độ trễ phản hồi gần như bằng không, đảm bảo tính công bằng tuyệt đối trong thời điểm chốt cử chỉ (Countdown 3-2-1).</a:t>
            </a:r>
            <a:endParaRPr lang="en-US" sz="2100" dirty="0">
              <a:latin typeface="Times New Roman" panose="02020603050405020304" pitchFamily="18" charset="0"/>
              <a:cs typeface="Times New Roman" panose="02020603050405020304" pitchFamily="18" charset="0"/>
            </a:endParaRPr>
          </a:p>
        </p:txBody>
      </p:sp>
      <p:sp>
        <p:nvSpPr>
          <p:cNvPr id="10" name="Shape 8"/>
          <p:cNvSpPr/>
          <p:nvPr/>
        </p:nvSpPr>
        <p:spPr>
          <a:xfrm>
            <a:off x="9640133" y="3436620"/>
            <a:ext cx="4196358" cy="3136702"/>
          </a:xfrm>
          <a:prstGeom prst="roundRect">
            <a:avLst>
              <a:gd name="adj" fmla="val 3037"/>
            </a:avLst>
          </a:prstGeom>
          <a:solidFill>
            <a:srgbClr val="31136C"/>
          </a:solidFill>
          <a:ln w="7620">
            <a:solidFill>
              <a:srgbClr val="4A2C85"/>
            </a:solidFill>
            <a:prstDash val="solid"/>
          </a:ln>
        </p:spPr>
      </p:sp>
      <p:sp>
        <p:nvSpPr>
          <p:cNvPr id="11" name="Text 9"/>
          <p:cNvSpPr/>
          <p:nvPr/>
        </p:nvSpPr>
        <p:spPr>
          <a:xfrm>
            <a:off x="9874568" y="3671054"/>
            <a:ext cx="3446383" cy="354330"/>
          </a:xfrm>
          <a:prstGeom prst="rect">
            <a:avLst/>
          </a:prstGeom>
          <a:noFill/>
          <a:ln/>
        </p:spPr>
        <p:txBody>
          <a:bodyPr wrap="none" lIns="0" tIns="0" rIns="0" bIns="0" rtlCol="0" anchor="t"/>
          <a:lstStyle/>
          <a:p>
            <a:pPr marL="0" indent="0" algn="just">
              <a:lnSpc>
                <a:spcPts val="2750"/>
              </a:lnSpc>
              <a:buNone/>
            </a:pPr>
            <a:r>
              <a:rPr lang="en-US" sz="2100" dirty="0">
                <a:solidFill>
                  <a:srgbClr val="DCD7E5"/>
                </a:solidFill>
                <a:latin typeface="Times New Roman" panose="02020603050405020304" pitchFamily="18" charset="0"/>
                <a:ea typeface="Montserrat" pitchFamily="34" charset="-122"/>
                <a:cs typeface="Times New Roman" panose="02020603050405020304" pitchFamily="18" charset="0"/>
              </a:rPr>
              <a:t>Trải nghiệm người dùng</a:t>
            </a:r>
            <a:endParaRPr lang="en-US" sz="2100" dirty="0">
              <a:latin typeface="Times New Roman" panose="02020603050405020304" pitchFamily="18" charset="0"/>
              <a:cs typeface="Times New Roman" panose="02020603050405020304" pitchFamily="18" charset="0"/>
            </a:endParaRPr>
          </a:p>
        </p:txBody>
      </p:sp>
      <p:sp>
        <p:nvSpPr>
          <p:cNvPr id="12" name="Text 10"/>
          <p:cNvSpPr/>
          <p:nvPr/>
        </p:nvSpPr>
        <p:spPr>
          <a:xfrm>
            <a:off x="9874568" y="4161472"/>
            <a:ext cx="3727490" cy="2177415"/>
          </a:xfrm>
          <a:prstGeom prst="rect">
            <a:avLst/>
          </a:prstGeom>
          <a:noFill/>
          <a:ln/>
        </p:spPr>
        <p:txBody>
          <a:bodyPr wrap="square" lIns="0" tIns="0" rIns="0" bIns="0" rtlCol="0" anchor="t"/>
          <a:lstStyle/>
          <a:p>
            <a:pPr marL="0" indent="0" algn="just">
              <a:lnSpc>
                <a:spcPts val="2850"/>
              </a:lnSpc>
              <a:buNone/>
            </a:pPr>
            <a:r>
              <a:rPr lang="en-US" sz="2100" dirty="0">
                <a:solidFill>
                  <a:srgbClr val="DCD7E5"/>
                </a:solidFill>
                <a:latin typeface="Times New Roman" panose="02020603050405020304" pitchFamily="18" charset="0"/>
                <a:ea typeface="Heebo Light" pitchFamily="34" charset="-122"/>
                <a:cs typeface="Times New Roman" panose="02020603050405020304" pitchFamily="18" charset="0"/>
              </a:rPr>
              <a:t>Việc tích hợp hiệu ứng pháo hoa Canvas và âm thanh chúc mừng chiến thắng "Best of 3" đã chuyển đổi một bài tập kỹ thuật thành một sản phẩm ứng dụng hoàn thiện và sinh động.</a:t>
            </a:r>
            <a:endParaRPr lang="en-US" sz="2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D8A41-DB43-585F-FA76-AE61F96255B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F49AF5E-A9C6-ECD1-7886-26693B7A4ED0}"/>
              </a:ext>
            </a:extLst>
          </p:cNvPr>
          <p:cNvSpPr/>
          <p:nvPr/>
        </p:nvSpPr>
        <p:spPr>
          <a:xfrm>
            <a:off x="793789" y="765095"/>
            <a:ext cx="12815887" cy="708779"/>
          </a:xfrm>
          <a:prstGeom prst="rect">
            <a:avLst/>
          </a:prstGeom>
          <a:noFill/>
          <a:ln/>
        </p:spPr>
        <p:txBody>
          <a:bodyPr wrap="none" lIns="0" tIns="0" rIns="0" bIns="0" rtlCol="0" anchor="t"/>
          <a:lstStyle/>
          <a:p>
            <a:pPr algn="ctr">
              <a:lnSpc>
                <a:spcPts val="5550"/>
              </a:lnSpc>
            </a:pPr>
            <a:r>
              <a:rPr lang="vi-VN" sz="5400" b="0" i="0" dirty="0">
                <a:solidFill>
                  <a:srgbClr val="E3E3E3"/>
                </a:solidFill>
                <a:effectLst/>
                <a:latin typeface="Times New Roman" panose="02020603050405020304" pitchFamily="18" charset="0"/>
                <a:cs typeface="Times New Roman" panose="02020603050405020304" pitchFamily="18" charset="0"/>
              </a:rPr>
              <a:t>Phân tích lỗi</a:t>
            </a:r>
            <a:endParaRPr lang="en-US" sz="5400"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4A9B8804-EAB9-9519-D8B9-6684FB2AD777}"/>
              </a:ext>
            </a:extLst>
          </p:cNvPr>
          <p:cNvSpPr/>
          <p:nvPr/>
        </p:nvSpPr>
        <p:spPr>
          <a:xfrm>
            <a:off x="793790" y="1633546"/>
            <a:ext cx="13042821" cy="725805"/>
          </a:xfrm>
          <a:prstGeom prst="rect">
            <a:avLst/>
          </a:prstGeom>
          <a:noFill/>
          <a:ln/>
        </p:spPr>
        <p:txBody>
          <a:bodyPr wrap="square" lIns="0" tIns="0" rIns="0" bIns="0" rtlCol="0" anchor="t"/>
          <a:lstStyle/>
          <a:p>
            <a:pPr marL="0" indent="0" algn="just">
              <a:lnSpc>
                <a:spcPts val="2850"/>
              </a:lnSpc>
              <a:buNone/>
            </a:pPr>
            <a:endParaRPr lang="en-US" sz="2100" dirty="0">
              <a:latin typeface="Times New Roman" panose="02020603050405020304" pitchFamily="18" charset="0"/>
              <a:cs typeface="Times New Roman" panose="02020603050405020304" pitchFamily="18" charset="0"/>
            </a:endParaRPr>
          </a:p>
        </p:txBody>
      </p:sp>
      <p:pic>
        <p:nvPicPr>
          <p:cNvPr id="4" name="Image 0" descr="preencoded.png">
            <a:extLst>
              <a:ext uri="{FF2B5EF4-FFF2-40B4-BE49-F238E27FC236}">
                <a16:creationId xmlns:a16="http://schemas.microsoft.com/office/drawing/2014/main" id="{F1424203-DC44-8C4E-A174-2BB4FFD28558}"/>
              </a:ext>
            </a:extLst>
          </p:cNvPr>
          <p:cNvPicPr>
            <a:picLocks noChangeAspect="1"/>
          </p:cNvPicPr>
          <p:nvPr/>
        </p:nvPicPr>
        <p:blipFill>
          <a:blip r:embed="rId3"/>
          <a:stretch>
            <a:fillRect/>
          </a:stretch>
        </p:blipFill>
        <p:spPr>
          <a:xfrm>
            <a:off x="793790" y="2614502"/>
            <a:ext cx="4347567" cy="907256"/>
          </a:xfrm>
          <a:prstGeom prst="rect">
            <a:avLst/>
          </a:prstGeom>
        </p:spPr>
      </p:pic>
      <p:sp>
        <p:nvSpPr>
          <p:cNvPr id="5" name="Text 2">
            <a:extLst>
              <a:ext uri="{FF2B5EF4-FFF2-40B4-BE49-F238E27FC236}">
                <a16:creationId xmlns:a16="http://schemas.microsoft.com/office/drawing/2014/main" id="{885F0DAC-5034-F51C-57D6-64E39F6268B9}"/>
              </a:ext>
            </a:extLst>
          </p:cNvPr>
          <p:cNvSpPr/>
          <p:nvPr/>
        </p:nvSpPr>
        <p:spPr>
          <a:xfrm>
            <a:off x="1020604" y="3748572"/>
            <a:ext cx="2860119" cy="354330"/>
          </a:xfrm>
          <a:prstGeom prst="rect">
            <a:avLst/>
          </a:prstGeom>
          <a:noFill/>
          <a:ln/>
        </p:spPr>
        <p:txBody>
          <a:bodyPr wrap="none" lIns="0" tIns="0" rIns="0" bIns="0" rtlCol="0" anchor="t"/>
          <a:lstStyle/>
          <a:p>
            <a:pPr algn="just">
              <a:lnSpc>
                <a:spcPts val="2750"/>
              </a:lnSpc>
            </a:pPr>
            <a:r>
              <a:rPr lang="vi-VN" sz="2100" b="0" i="0" dirty="0">
                <a:solidFill>
                  <a:srgbClr val="E3E3E3"/>
                </a:solidFill>
                <a:effectLst/>
                <a:latin typeface="Times New Roman" panose="02020603050405020304" pitchFamily="18" charset="0"/>
                <a:cs typeface="Times New Roman" panose="02020603050405020304" pitchFamily="18" charset="0"/>
              </a:rPr>
              <a:t>Lỗi góc khuất (Occlusion):</a:t>
            </a:r>
            <a:endParaRPr lang="en-US" sz="2100" dirty="0">
              <a:latin typeface="Times New Roman" panose="02020603050405020304" pitchFamily="18" charset="0"/>
              <a:cs typeface="Times New Roman" panose="02020603050405020304" pitchFamily="18" charset="0"/>
            </a:endParaRPr>
          </a:p>
        </p:txBody>
      </p:sp>
      <p:sp>
        <p:nvSpPr>
          <p:cNvPr id="6" name="Text 3">
            <a:extLst>
              <a:ext uri="{FF2B5EF4-FFF2-40B4-BE49-F238E27FC236}">
                <a16:creationId xmlns:a16="http://schemas.microsoft.com/office/drawing/2014/main" id="{8C0114D7-8F92-1838-89AD-26E432821388}"/>
              </a:ext>
            </a:extLst>
          </p:cNvPr>
          <p:cNvSpPr/>
          <p:nvPr/>
        </p:nvSpPr>
        <p:spPr>
          <a:xfrm>
            <a:off x="1020602" y="4136356"/>
            <a:ext cx="3893939" cy="1761892"/>
          </a:xfrm>
          <a:prstGeom prst="rect">
            <a:avLst/>
          </a:prstGeom>
          <a:noFill/>
          <a:ln/>
        </p:spPr>
        <p:txBody>
          <a:bodyPr wrap="square" lIns="0" tIns="0" rIns="0" bIns="0" rtlCol="0" anchor="t"/>
          <a:lstStyle/>
          <a:p>
            <a:endParaRPr lang="vi-VN" sz="2400" dirty="0">
              <a:solidFill>
                <a:srgbClr val="E3E3E3"/>
              </a:solidFill>
              <a:latin typeface="Times New Roman" panose="02020603050405020304" pitchFamily="18" charset="0"/>
              <a:cs typeface="Times New Roman" panose="02020603050405020304" pitchFamily="18" charset="0"/>
            </a:endParaRPr>
          </a:p>
          <a:p>
            <a:pPr algn="just"/>
            <a:r>
              <a:rPr lang="vi-VN" sz="2100" b="0" i="0" dirty="0">
                <a:solidFill>
                  <a:srgbClr val="E3E3E3"/>
                </a:solidFill>
                <a:effectLst/>
                <a:latin typeface="Times New Roman" panose="02020603050405020304" pitchFamily="18" charset="0"/>
                <a:cs typeface="Times New Roman" panose="02020603050405020304" pitchFamily="18" charset="0"/>
              </a:rPr>
              <a:t>Khi tay nghiêng hoặc quá gần camera, các ngón tay che lấp nhau dẫn đến nhận diện sai (thường nhầm Kéo thành Búa).</a:t>
            </a:r>
          </a:p>
          <a:p>
            <a:pPr marL="0" indent="0" algn="just">
              <a:lnSpc>
                <a:spcPts val="2850"/>
              </a:lnSpc>
              <a:buNone/>
            </a:pPr>
            <a:endParaRPr lang="en-US" sz="2100" dirty="0">
              <a:latin typeface="Times New Roman" panose="02020603050405020304" pitchFamily="18" charset="0"/>
              <a:cs typeface="Times New Roman" panose="02020603050405020304" pitchFamily="18" charset="0"/>
            </a:endParaRPr>
          </a:p>
        </p:txBody>
      </p:sp>
      <p:pic>
        <p:nvPicPr>
          <p:cNvPr id="7" name="Image 1" descr="preencoded.png">
            <a:extLst>
              <a:ext uri="{FF2B5EF4-FFF2-40B4-BE49-F238E27FC236}">
                <a16:creationId xmlns:a16="http://schemas.microsoft.com/office/drawing/2014/main" id="{C355521B-9765-0934-7A82-D0E53CF6950E}"/>
              </a:ext>
            </a:extLst>
          </p:cNvPr>
          <p:cNvPicPr>
            <a:picLocks noChangeAspect="1"/>
          </p:cNvPicPr>
          <p:nvPr/>
        </p:nvPicPr>
        <p:blipFill>
          <a:blip r:embed="rId4"/>
          <a:stretch>
            <a:fillRect/>
          </a:stretch>
        </p:blipFill>
        <p:spPr>
          <a:xfrm>
            <a:off x="5141357" y="2614502"/>
            <a:ext cx="4347567" cy="907256"/>
          </a:xfrm>
          <a:prstGeom prst="rect">
            <a:avLst/>
          </a:prstGeom>
        </p:spPr>
      </p:pic>
      <p:sp>
        <p:nvSpPr>
          <p:cNvPr id="8" name="Text 4">
            <a:extLst>
              <a:ext uri="{FF2B5EF4-FFF2-40B4-BE49-F238E27FC236}">
                <a16:creationId xmlns:a16="http://schemas.microsoft.com/office/drawing/2014/main" id="{DCCB1E32-03C9-3DB6-F64B-A1CE5E4646BD}"/>
              </a:ext>
            </a:extLst>
          </p:cNvPr>
          <p:cNvSpPr/>
          <p:nvPr/>
        </p:nvSpPr>
        <p:spPr>
          <a:xfrm>
            <a:off x="5368171" y="3748572"/>
            <a:ext cx="2835235" cy="354330"/>
          </a:xfrm>
          <a:prstGeom prst="rect">
            <a:avLst/>
          </a:prstGeom>
          <a:noFill/>
          <a:ln/>
        </p:spPr>
        <p:txBody>
          <a:bodyPr wrap="none" lIns="0" tIns="0" rIns="0" bIns="0" rtlCol="0" anchor="t"/>
          <a:lstStyle/>
          <a:p>
            <a:pPr algn="just">
              <a:lnSpc>
                <a:spcPts val="2750"/>
              </a:lnSpc>
            </a:pPr>
            <a:r>
              <a:rPr lang="vi-VN" sz="2100" b="0" i="0" dirty="0">
                <a:solidFill>
                  <a:srgbClr val="E3E3E3"/>
                </a:solidFill>
                <a:effectLst/>
                <a:latin typeface="Times New Roman" panose="02020603050405020304" pitchFamily="18" charset="0"/>
                <a:cs typeface="Times New Roman" panose="02020603050405020304" pitchFamily="18" charset="0"/>
              </a:rPr>
              <a:t>Nhiễu môi trường:</a:t>
            </a:r>
            <a:endParaRPr lang="en-US" sz="2100" dirty="0">
              <a:latin typeface="Times New Roman" panose="02020603050405020304" pitchFamily="18" charset="0"/>
              <a:cs typeface="Times New Roman" panose="02020603050405020304" pitchFamily="18" charset="0"/>
            </a:endParaRPr>
          </a:p>
        </p:txBody>
      </p:sp>
      <p:sp>
        <p:nvSpPr>
          <p:cNvPr id="9" name="Text 5">
            <a:extLst>
              <a:ext uri="{FF2B5EF4-FFF2-40B4-BE49-F238E27FC236}">
                <a16:creationId xmlns:a16="http://schemas.microsoft.com/office/drawing/2014/main" id="{2ED7892B-51F5-678E-3F3B-2D2C4A8F9A22}"/>
              </a:ext>
            </a:extLst>
          </p:cNvPr>
          <p:cNvSpPr/>
          <p:nvPr/>
        </p:nvSpPr>
        <p:spPr>
          <a:xfrm>
            <a:off x="5368170" y="4484318"/>
            <a:ext cx="3893939" cy="2177415"/>
          </a:xfrm>
          <a:prstGeom prst="rect">
            <a:avLst/>
          </a:prstGeom>
          <a:noFill/>
          <a:ln/>
        </p:spPr>
        <p:txBody>
          <a:bodyPr wrap="square" lIns="0" tIns="0" rIns="0" bIns="0" rtlCol="0" anchor="t"/>
          <a:lstStyle/>
          <a:p>
            <a:pPr algn="just"/>
            <a:r>
              <a:rPr lang="vi-VN" sz="2100" b="0" i="0" dirty="0">
                <a:solidFill>
                  <a:srgbClr val="E3E3E3"/>
                </a:solidFill>
                <a:effectLst/>
                <a:latin typeface="Times New Roman" panose="02020603050405020304" pitchFamily="18" charset="0"/>
                <a:cs typeface="Times New Roman" panose="02020603050405020304" pitchFamily="18" charset="0"/>
              </a:rPr>
              <a:t>Ánh sáng quá yếu hoặc ngược sáng mạnh khiến mô hình khó tách bàn tay khỏi nền.</a:t>
            </a:r>
          </a:p>
        </p:txBody>
      </p:sp>
      <p:pic>
        <p:nvPicPr>
          <p:cNvPr id="10" name="Image 2" descr="preencoded.png">
            <a:extLst>
              <a:ext uri="{FF2B5EF4-FFF2-40B4-BE49-F238E27FC236}">
                <a16:creationId xmlns:a16="http://schemas.microsoft.com/office/drawing/2014/main" id="{82AF179D-CCA4-0499-65F1-8D7C4AF4EA3F}"/>
              </a:ext>
            </a:extLst>
          </p:cNvPr>
          <p:cNvPicPr>
            <a:picLocks noChangeAspect="1"/>
          </p:cNvPicPr>
          <p:nvPr/>
        </p:nvPicPr>
        <p:blipFill>
          <a:blip r:embed="rId5"/>
          <a:stretch>
            <a:fillRect/>
          </a:stretch>
        </p:blipFill>
        <p:spPr>
          <a:xfrm>
            <a:off x="9488924" y="2614502"/>
            <a:ext cx="4347567" cy="907256"/>
          </a:xfrm>
          <a:prstGeom prst="rect">
            <a:avLst/>
          </a:prstGeom>
        </p:spPr>
      </p:pic>
      <p:sp>
        <p:nvSpPr>
          <p:cNvPr id="11" name="Text 6">
            <a:extLst>
              <a:ext uri="{FF2B5EF4-FFF2-40B4-BE49-F238E27FC236}">
                <a16:creationId xmlns:a16="http://schemas.microsoft.com/office/drawing/2014/main" id="{BC8EE79C-6402-6D21-CE87-BF7A2562168F}"/>
              </a:ext>
            </a:extLst>
          </p:cNvPr>
          <p:cNvSpPr/>
          <p:nvPr/>
        </p:nvSpPr>
        <p:spPr>
          <a:xfrm>
            <a:off x="9715738" y="3748572"/>
            <a:ext cx="2835235" cy="354330"/>
          </a:xfrm>
          <a:prstGeom prst="rect">
            <a:avLst/>
          </a:prstGeom>
          <a:noFill/>
          <a:ln/>
        </p:spPr>
        <p:txBody>
          <a:bodyPr wrap="none" lIns="0" tIns="0" rIns="0" bIns="0" rtlCol="0" anchor="t"/>
          <a:lstStyle/>
          <a:p>
            <a:pPr algn="just">
              <a:lnSpc>
                <a:spcPts val="2750"/>
              </a:lnSpc>
            </a:pPr>
            <a:r>
              <a:rPr lang="vi-VN" sz="2100" b="0" i="0" dirty="0">
                <a:solidFill>
                  <a:srgbClr val="E3E3E3"/>
                </a:solidFill>
                <a:effectLst/>
                <a:latin typeface="Times New Roman" panose="02020603050405020304" pitchFamily="18" charset="0"/>
                <a:cs typeface="Times New Roman" panose="02020603050405020304" pitchFamily="18" charset="0"/>
              </a:rPr>
              <a:t>Cử chỉ không rõ:</a:t>
            </a:r>
            <a:endParaRPr lang="en-US" sz="2100" dirty="0">
              <a:latin typeface="Times New Roman" panose="02020603050405020304" pitchFamily="18" charset="0"/>
              <a:cs typeface="Times New Roman" panose="02020603050405020304" pitchFamily="18" charset="0"/>
            </a:endParaRPr>
          </a:p>
        </p:txBody>
      </p:sp>
      <p:sp>
        <p:nvSpPr>
          <p:cNvPr id="12" name="Text 7">
            <a:extLst>
              <a:ext uri="{FF2B5EF4-FFF2-40B4-BE49-F238E27FC236}">
                <a16:creationId xmlns:a16="http://schemas.microsoft.com/office/drawing/2014/main" id="{8BA0B848-ADDA-6623-1228-0A11EBE8BFFC}"/>
              </a:ext>
            </a:extLst>
          </p:cNvPr>
          <p:cNvSpPr/>
          <p:nvPr/>
        </p:nvSpPr>
        <p:spPr>
          <a:xfrm>
            <a:off x="9715738" y="4484318"/>
            <a:ext cx="3893939" cy="1814513"/>
          </a:xfrm>
          <a:prstGeom prst="rect">
            <a:avLst/>
          </a:prstGeom>
          <a:noFill/>
          <a:ln/>
        </p:spPr>
        <p:txBody>
          <a:bodyPr wrap="square" lIns="0" tIns="0" rIns="0" bIns="0" rtlCol="0" anchor="t"/>
          <a:lstStyle/>
          <a:p>
            <a:pPr algn="just"/>
            <a:r>
              <a:rPr lang="vi-VN" sz="2100" b="0" i="0" dirty="0">
                <a:solidFill>
                  <a:srgbClr val="E3E3E3"/>
                </a:solidFill>
                <a:effectLst/>
                <a:latin typeface="Times New Roman" panose="02020603050405020304" pitchFamily="18" charset="0"/>
                <a:cs typeface="Times New Roman" panose="02020603050405020304" pitchFamily="18" charset="0"/>
              </a:rPr>
              <a:t>Xảy ra khi người chơi không duỗi thẳng tay hoặc khớp gập không triệt để, hệ thống tự động loại bỏ để tránh dự đoán sai.</a:t>
            </a:r>
          </a:p>
        </p:txBody>
      </p:sp>
    </p:spTree>
    <p:extLst>
      <p:ext uri="{BB962C8B-B14F-4D97-AF65-F5344CB8AC3E}">
        <p14:creationId xmlns:p14="http://schemas.microsoft.com/office/powerpoint/2010/main" val="3943129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0C0C7-2BC6-36E9-50DB-604D3E7DC26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86E3CA4-893E-F24C-3FD4-D4BDB75EBC8D}"/>
              </a:ext>
            </a:extLst>
          </p:cNvPr>
          <p:cNvSpPr/>
          <p:nvPr/>
        </p:nvSpPr>
        <p:spPr>
          <a:xfrm>
            <a:off x="793789" y="1062314"/>
            <a:ext cx="13042820" cy="708779"/>
          </a:xfrm>
          <a:prstGeom prst="rect">
            <a:avLst/>
          </a:prstGeom>
          <a:noFill/>
          <a:ln/>
        </p:spPr>
        <p:txBody>
          <a:bodyPr wrap="none" lIns="0" tIns="0" rIns="0" bIns="0" rtlCol="0" anchor="t"/>
          <a:lstStyle/>
          <a:p>
            <a:pPr algn="ctr">
              <a:lnSpc>
                <a:spcPts val="5550"/>
              </a:lnSpc>
            </a:pPr>
            <a:r>
              <a:rPr lang="vi-VN" sz="5400" dirty="0">
                <a:solidFill>
                  <a:schemeClr val="bg1"/>
                </a:solidFill>
                <a:latin typeface="Times New Roman" panose="02020603050405020304" pitchFamily="18" charset="0"/>
                <a:cs typeface="Times New Roman" panose="02020603050405020304" pitchFamily="18" charset="0"/>
              </a:rPr>
              <a:t>Hạn chế và Hướng phát triển</a:t>
            </a:r>
            <a:endParaRPr lang="en-US" sz="5400" dirty="0">
              <a:solidFill>
                <a:schemeClr val="bg1"/>
              </a:solidFill>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7AF19D43-61B3-1BAF-59B3-A8A0DE4E1433}"/>
              </a:ext>
            </a:extLst>
          </p:cNvPr>
          <p:cNvSpPr/>
          <p:nvPr/>
        </p:nvSpPr>
        <p:spPr>
          <a:xfrm>
            <a:off x="793790" y="6596538"/>
            <a:ext cx="13042821" cy="1088708"/>
          </a:xfrm>
          <a:prstGeom prst="rect">
            <a:avLst/>
          </a:prstGeom>
          <a:noFill/>
          <a:ln/>
        </p:spPr>
        <p:txBody>
          <a:bodyPr wrap="square" lIns="0" tIns="0" rIns="0" bIns="0" rtlCol="0" anchor="t"/>
          <a:lstStyle/>
          <a:p>
            <a:pPr marL="0" indent="0" algn="l">
              <a:lnSpc>
                <a:spcPts val="2850"/>
              </a:lnSpc>
              <a:buNone/>
            </a:pPr>
            <a:endParaRPr lang="en-US" sz="24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EBEFAA0D-A05B-762F-7270-919A14825D49}"/>
              </a:ext>
            </a:extLst>
          </p:cNvPr>
          <p:cNvSpPr/>
          <p:nvPr/>
        </p:nvSpPr>
        <p:spPr>
          <a:xfrm>
            <a:off x="793789" y="5006897"/>
            <a:ext cx="13042821" cy="1451610"/>
          </a:xfrm>
          <a:prstGeom prst="rect">
            <a:avLst/>
          </a:prstGeom>
          <a:noFill/>
          <a:ln/>
        </p:spPr>
        <p:txBody>
          <a:bodyPr wrap="square" lIns="0" tIns="0" rIns="0" bIns="0" rtlCol="0" anchor="t"/>
          <a:lstStyle/>
          <a:p>
            <a:pPr marL="0" indent="0" algn="l">
              <a:lnSpc>
                <a:spcPts val="2850"/>
              </a:lnSpc>
              <a:buNone/>
            </a:pPr>
            <a:endParaRPr lang="en-US" sz="2400"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849CFA88-F6C6-8B45-7F0C-D2B39DC42657}"/>
              </a:ext>
            </a:extLst>
          </p:cNvPr>
          <p:cNvSpPr>
            <a:spLocks noChangeArrowheads="1"/>
          </p:cNvSpPr>
          <p:nvPr/>
        </p:nvSpPr>
        <p:spPr bwMode="auto">
          <a:xfrm>
            <a:off x="793789" y="2395294"/>
            <a:ext cx="13285650" cy="3924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indent="-342900" algn="just">
              <a:buFont typeface="Wingdings" panose="05000000000000000000" pitchFamily="2" charset="2"/>
              <a:buChar char="v"/>
            </a:pPr>
            <a:r>
              <a:rPr lang="vi-VN" sz="2100" dirty="0">
                <a:solidFill>
                  <a:schemeClr val="bg1"/>
                </a:solidFill>
                <a:latin typeface="Times New Roman" panose="02020603050405020304" pitchFamily="18" charset="0"/>
                <a:cs typeface="Times New Roman" panose="02020603050405020304" pitchFamily="18" charset="0"/>
              </a:rPr>
              <a:t>Hạn chế: </a:t>
            </a:r>
          </a:p>
          <a:p>
            <a:pPr algn="just"/>
            <a:endParaRPr lang="vi-VN" sz="2100" dirty="0">
              <a:solidFill>
                <a:schemeClr val="bg1"/>
              </a:solidFill>
              <a:latin typeface="Times New Roman" panose="02020603050405020304" pitchFamily="18" charset="0"/>
              <a:cs typeface="Times New Roman" panose="02020603050405020304" pitchFamily="18" charset="0"/>
            </a:endParaRPr>
          </a:p>
          <a:p>
            <a:pPr algn="just"/>
            <a:r>
              <a:rPr lang="vi-VN" sz="2100" dirty="0">
                <a:solidFill>
                  <a:schemeClr val="bg1"/>
                </a:solidFill>
                <a:latin typeface="Times New Roman" panose="02020603050405020304" pitchFamily="18" charset="0"/>
                <a:cs typeface="Times New Roman" panose="02020603050405020304" pitchFamily="18" charset="0"/>
              </a:rPr>
              <a:t>	Phụ thuộc vào chất lượng camera; logic ra chiêu của máy vẫn là ngẫu nhiên thuần túy, chưa có tính phán đoán 	hành vi.</a:t>
            </a:r>
          </a:p>
          <a:p>
            <a:pPr algn="just"/>
            <a:endParaRPr lang="vi-VN" sz="2100" dirty="0">
              <a:solidFill>
                <a:schemeClr val="bg1"/>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vi-VN" sz="2100" dirty="0">
                <a:solidFill>
                  <a:schemeClr val="bg1"/>
                </a:solidFill>
                <a:latin typeface="Times New Roman" panose="02020603050405020304" pitchFamily="18" charset="0"/>
                <a:cs typeface="Times New Roman" panose="02020603050405020304" pitchFamily="18" charset="0"/>
              </a:rPr>
              <a:t>Hướng phát triển:</a:t>
            </a:r>
          </a:p>
          <a:p>
            <a:pPr algn="just"/>
            <a:endParaRPr lang="vi-VN" sz="2100" dirty="0">
              <a:solidFill>
                <a:schemeClr val="bg1"/>
              </a:solidFill>
              <a:latin typeface="Times New Roman" panose="02020603050405020304" pitchFamily="18" charset="0"/>
              <a:cs typeface="Times New Roman" panose="02020603050405020304" pitchFamily="18" charset="0"/>
            </a:endParaRPr>
          </a:p>
          <a:p>
            <a:pPr algn="just"/>
            <a:r>
              <a:rPr lang="vi-VN" sz="2100" dirty="0">
                <a:solidFill>
                  <a:schemeClr val="bg1"/>
                </a:solidFill>
                <a:latin typeface="Times New Roman" panose="02020603050405020304" pitchFamily="18" charset="0"/>
                <a:cs typeface="Times New Roman" panose="02020603050405020304" pitchFamily="18" charset="0"/>
              </a:rPr>
              <a:t>	Tích hợp Deep Learning để máy "học" thói quen người chơi, tăng độ khó.</a:t>
            </a:r>
          </a:p>
          <a:p>
            <a:pPr algn="just"/>
            <a:endParaRPr lang="vi-VN" sz="2100" dirty="0">
              <a:solidFill>
                <a:schemeClr val="bg1"/>
              </a:solidFill>
              <a:latin typeface="Times New Roman" panose="02020603050405020304" pitchFamily="18" charset="0"/>
              <a:cs typeface="Times New Roman" panose="02020603050405020304" pitchFamily="18" charset="0"/>
            </a:endParaRPr>
          </a:p>
          <a:p>
            <a:pPr algn="just"/>
            <a:r>
              <a:rPr lang="vi-VN" sz="2100" dirty="0">
                <a:solidFill>
                  <a:schemeClr val="bg1"/>
                </a:solidFill>
                <a:latin typeface="Times New Roman" panose="02020603050405020304" pitchFamily="18" charset="0"/>
                <a:cs typeface="Times New Roman" panose="02020603050405020304" pitchFamily="18" charset="0"/>
              </a:rPr>
              <a:t>	Nâng cấp thuật toán để hỗ trợ 2 người chơi đấu trực tiếp trên cùng một khung hình.</a:t>
            </a:r>
          </a:p>
          <a:p>
            <a:pPr algn="just"/>
            <a:endParaRPr lang="vi-VN" sz="2100" dirty="0">
              <a:solidFill>
                <a:schemeClr val="bg1"/>
              </a:solidFill>
              <a:latin typeface="Times New Roman" panose="02020603050405020304" pitchFamily="18" charset="0"/>
              <a:cs typeface="Times New Roman" panose="02020603050405020304" pitchFamily="18" charset="0"/>
            </a:endParaRPr>
          </a:p>
          <a:p>
            <a:pPr algn="just"/>
            <a:r>
              <a:rPr lang="vi-VN" sz="2100" dirty="0">
                <a:solidFill>
                  <a:schemeClr val="bg1"/>
                </a:solidFill>
                <a:latin typeface="Times New Roman" panose="02020603050405020304" pitchFamily="18" charset="0"/>
                <a:cs typeface="Times New Roman" panose="02020603050405020304" pitchFamily="18" charset="0"/>
              </a:rPr>
              <a:t>	Mở rộng tập cử chỉ để ứng dụng vào điều khiển thiết bị thông minh hoặc hỗ trợ người khiếm thính.</a:t>
            </a:r>
          </a:p>
        </p:txBody>
      </p:sp>
    </p:spTree>
    <p:extLst>
      <p:ext uri="{BB962C8B-B14F-4D97-AF65-F5344CB8AC3E}">
        <p14:creationId xmlns:p14="http://schemas.microsoft.com/office/powerpoint/2010/main" val="1509127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EBE9E6-9F8D-5568-6E59-DC0E4B7CB5E8}"/>
              </a:ext>
            </a:extLst>
          </p:cNvPr>
          <p:cNvSpPr txBox="1"/>
          <p:nvPr/>
        </p:nvSpPr>
        <p:spPr>
          <a:xfrm>
            <a:off x="1293542" y="457199"/>
            <a:ext cx="11496907" cy="2585323"/>
          </a:xfrm>
          <a:prstGeom prst="rect">
            <a:avLst/>
          </a:prstGeom>
          <a:noFill/>
        </p:spPr>
        <p:txBody>
          <a:bodyPr wrap="square">
            <a:spAutoFit/>
          </a:bodyPr>
          <a:lstStyle/>
          <a:p>
            <a:pPr algn="ctr">
              <a:buNone/>
            </a:pPr>
            <a:r>
              <a:rPr lang="vi-VN" sz="5400" b="0" i="0" dirty="0">
                <a:solidFill>
                  <a:srgbClr val="E3E3E3"/>
                </a:solidFill>
                <a:effectLst/>
                <a:latin typeface="Times New Roman" panose="02020603050405020304" pitchFamily="18" charset="0"/>
                <a:cs typeface="Times New Roman" panose="02020603050405020304" pitchFamily="18" charset="0"/>
              </a:rPr>
              <a:t>Kết luận và kết quả đạt được</a:t>
            </a:r>
          </a:p>
          <a:p>
            <a:pPr algn="l">
              <a:buNone/>
            </a:pPr>
            <a:br>
              <a:rPr lang="vi-VN" b="0" i="0" dirty="0">
                <a:solidFill>
                  <a:srgbClr val="E3E3E3"/>
                </a:solidFill>
                <a:effectLst/>
                <a:latin typeface="Google Sans Flex"/>
              </a:rPr>
            </a:br>
            <a:endParaRPr lang="vi-VN" b="0" i="0" dirty="0">
              <a:solidFill>
                <a:srgbClr val="E3E3E3"/>
              </a:solidFill>
              <a:effectLst/>
              <a:latin typeface="Google Sans Flex"/>
            </a:endParaRPr>
          </a:p>
          <a:p>
            <a:pPr algn="l">
              <a:buNone/>
            </a:pPr>
            <a:endParaRPr lang="vi-VN" dirty="0">
              <a:solidFill>
                <a:srgbClr val="E3E3E3"/>
              </a:solidFill>
              <a:latin typeface="Google Sans Flex"/>
            </a:endParaRPr>
          </a:p>
          <a:p>
            <a:pPr algn="l">
              <a:buNone/>
            </a:pPr>
            <a:endParaRPr lang="vi-VN" b="0" i="0" dirty="0">
              <a:solidFill>
                <a:srgbClr val="E3E3E3"/>
              </a:solidFill>
              <a:effectLst/>
              <a:latin typeface="Google Sans Flex"/>
            </a:endParaRPr>
          </a:p>
          <a:p>
            <a:pPr algn="l">
              <a:buNone/>
            </a:pPr>
            <a:endParaRPr lang="vi-VN" dirty="0">
              <a:solidFill>
                <a:srgbClr val="E3E3E3"/>
              </a:solidFill>
              <a:latin typeface="Google Sans Flex"/>
            </a:endParaRPr>
          </a:p>
          <a:p>
            <a:pPr algn="l">
              <a:buNone/>
            </a:pPr>
            <a:endParaRPr lang="vi-VN" b="0" i="0" dirty="0">
              <a:solidFill>
                <a:srgbClr val="E3E3E3"/>
              </a:solidFill>
              <a:effectLst/>
              <a:latin typeface="Google Sans Flex"/>
            </a:endParaRPr>
          </a:p>
        </p:txBody>
      </p:sp>
      <p:sp>
        <p:nvSpPr>
          <p:cNvPr id="7" name="Rectangle 4">
            <a:extLst>
              <a:ext uri="{FF2B5EF4-FFF2-40B4-BE49-F238E27FC236}">
                <a16:creationId xmlns:a16="http://schemas.microsoft.com/office/drawing/2014/main" id="{F50B6C57-0EF9-1E34-7447-21A0EBDF1594}"/>
              </a:ext>
            </a:extLst>
          </p:cNvPr>
          <p:cNvSpPr>
            <a:spLocks noChangeArrowheads="1"/>
          </p:cNvSpPr>
          <p:nvPr/>
        </p:nvSpPr>
        <p:spPr bwMode="auto">
          <a:xfrm>
            <a:off x="752707" y="2298154"/>
            <a:ext cx="13124985"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indent="-342900" algn="just" eaLnBrk="0" fontAlgn="base" hangingPunct="0">
              <a:spcBef>
                <a:spcPct val="0"/>
              </a:spcBef>
              <a:spcAft>
                <a:spcPct val="0"/>
              </a:spcAft>
              <a:buFont typeface="Wingdings" panose="05000000000000000000" pitchFamily="2" charset="2"/>
              <a:buChar char="v"/>
            </a:pPr>
            <a:r>
              <a:rPr kumimoji="0" lang="en-US" altLang="en-US" sz="21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Về</a:t>
            </a:r>
            <a:r>
              <a:rPr kumimoji="0" lang="en-US"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kỹ</a:t>
            </a:r>
            <a:r>
              <a:rPr kumimoji="0" lang="en-US"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thuật</a:t>
            </a:r>
            <a:r>
              <a:rPr kumimoji="0" lang="en-US"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Xây</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dựng</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thành</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công</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hệ</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thống</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nhận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diện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cử</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chỉ</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Búa</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Kéo</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Bao)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thời</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gian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thực</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bằng</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MediaPipe</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với</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độ</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chính</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xác</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và</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tốc</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độ</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phản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hồi</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cao</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a:t>
            </a:r>
            <a:endParaRPr kumimoji="0" lang="vi-VN"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endParaRPr>
          </a:p>
          <a:p>
            <a:pPr marL="342900" indent="-342900" algn="just" eaLnBrk="0" fontAlgn="base" hangingPunct="0">
              <a:spcBef>
                <a:spcPct val="0"/>
              </a:spcBef>
              <a:spcAft>
                <a:spcPct val="0"/>
              </a:spcAft>
              <a:buFont typeface="Wingdings" panose="05000000000000000000" pitchFamily="2" charset="2"/>
              <a:buChar char="v"/>
            </a:pPr>
            <a:endParaRPr kumimoji="0" lang="vi-VN"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1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Về</a:t>
            </a:r>
            <a:r>
              <a:rPr kumimoji="0" lang="en-US"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ứng</a:t>
            </a:r>
            <a:r>
              <a:rPr kumimoji="0" lang="en-US"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dụng</a:t>
            </a:r>
            <a:r>
              <a:rPr kumimoji="0" lang="en-US"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Hoàn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thiện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sản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phẩm</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Web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đa</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năng</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tích</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hợp</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quản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lý</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người</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dùng</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và</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lưu</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trữ</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lịch</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sử</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đấu</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nhất</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quán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qua SQL Server.</a:t>
            </a:r>
            <a:endParaRPr kumimoji="0" lang="vi-VN"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1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Kỹ</a:t>
            </a:r>
            <a:r>
              <a:rPr kumimoji="0" lang="en-US"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năng</a:t>
            </a:r>
            <a:r>
              <a:rPr kumimoji="0" lang="en-US"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học</a:t>
            </a:r>
            <a:r>
              <a:rPr kumimoji="0" lang="en-US"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hỏi</a:t>
            </a:r>
            <a:r>
              <a:rPr kumimoji="0" lang="en-US"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Nắm</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vững</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quy</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trình</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xử</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lý</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thị</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giác</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máy</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tính</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tương</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tác</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Frontend-Backend qua API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và</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tư</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duy</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tối</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ưu</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hóa</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thuật</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toán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AI.</a:t>
            </a:r>
            <a:endParaRPr kumimoji="0" lang="vi-VN"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1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Kỹ</a:t>
            </a:r>
            <a:r>
              <a:rPr kumimoji="0" lang="en-US"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năng</a:t>
            </a:r>
            <a:r>
              <a:rPr kumimoji="0" lang="en-US"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thực</a:t>
            </a:r>
            <a:r>
              <a:rPr kumimoji="0" lang="en-US"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tế</a:t>
            </a:r>
            <a:r>
              <a:rPr kumimoji="0" lang="en-US"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Rèn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luyện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khả</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năng</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phân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tích</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sai</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số</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từ</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môi</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trường</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ánh</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sáng</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góc</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khuất</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để</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tinh</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chỉnh</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hệ</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thống</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vận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hành</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ổn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định</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a:t>
            </a:r>
            <a:endParaRPr kumimoji="0" lang="vi-VN"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1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Lời</a:t>
            </a:r>
            <a:r>
              <a:rPr kumimoji="0" lang="en-US"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cảm</a:t>
            </a:r>
            <a:r>
              <a:rPr kumimoji="0" lang="en-US"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1"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ơn</a:t>
            </a:r>
            <a:r>
              <a:rPr kumimoji="0" lang="en-US" altLang="en-US" sz="2100" b="1"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Em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xin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chân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thành</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cảm</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ơn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thầy</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ThS</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Nguyễn Tuấn Linh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đã</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tận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tình</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hướng</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dẫn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và</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định</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hướng</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giúp</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em</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hoàn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thành</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bài</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tập</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lớn</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 </a:t>
            </a:r>
            <a:r>
              <a:rPr kumimoji="0" lang="en-US" altLang="en-US" sz="2100" b="0" i="0" u="none" strike="noStrike" cap="none" normalizeH="0" baseline="0" dirty="0" err="1">
                <a:ln>
                  <a:noFill/>
                </a:ln>
                <a:solidFill>
                  <a:schemeClr val="bg1"/>
                </a:solidFill>
                <a:effectLst/>
                <a:latin typeface="Times New Roman" panose="02020603050405020304" pitchFamily="18" charset="0"/>
                <a:ea typeface="Google Sans Text"/>
                <a:cs typeface="Times New Roman" panose="02020603050405020304" pitchFamily="18" charset="0"/>
              </a:rPr>
              <a:t>này</a:t>
            </a:r>
            <a:r>
              <a:rPr kumimoji="0" lang="en-US" altLang="en-US" sz="2100" b="0" i="0" u="none" strike="noStrike" cap="none" normalizeH="0" baseline="0" dirty="0">
                <a:ln>
                  <a:noFill/>
                </a:ln>
                <a:solidFill>
                  <a:schemeClr val="bg1"/>
                </a:solidFill>
                <a:effectLst/>
                <a:latin typeface="Times New Roman" panose="02020603050405020304" pitchFamily="18" charset="0"/>
                <a:ea typeface="Google Sans Text"/>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704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D6B9E-8EBC-C6E9-1CE0-D8923726E04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C10BCBA-38F2-2A9E-F010-F4559E4AB994}"/>
              </a:ext>
            </a:extLst>
          </p:cNvPr>
          <p:cNvSpPr txBox="1"/>
          <p:nvPr/>
        </p:nvSpPr>
        <p:spPr>
          <a:xfrm>
            <a:off x="1193181" y="2621318"/>
            <a:ext cx="12344399" cy="1938992"/>
          </a:xfrm>
          <a:prstGeom prst="rect">
            <a:avLst/>
          </a:prstGeom>
          <a:noFill/>
        </p:spPr>
        <p:txBody>
          <a:bodyPr wrap="square">
            <a:spAutoFit/>
          </a:bodyPr>
          <a:lstStyle/>
          <a:p>
            <a:pPr algn="ctr">
              <a:buNone/>
            </a:pPr>
            <a:r>
              <a:rPr lang="vi-VN" sz="6000" b="0" i="0" dirty="0">
                <a:solidFill>
                  <a:srgbClr val="E3E3E3"/>
                </a:solidFill>
                <a:effectLst/>
                <a:latin typeface="Times New Roman" panose="02020603050405020304" pitchFamily="18" charset="0"/>
                <a:cs typeface="Times New Roman" panose="02020603050405020304" pitchFamily="18" charset="0"/>
              </a:rPr>
              <a:t>	CẢM ƠN THẦY VÀ CÁC BẠN ĐÃ LẮNG NGHE </a:t>
            </a:r>
          </a:p>
        </p:txBody>
      </p:sp>
    </p:spTree>
    <p:extLst>
      <p:ext uri="{BB962C8B-B14F-4D97-AF65-F5344CB8AC3E}">
        <p14:creationId xmlns:p14="http://schemas.microsoft.com/office/powerpoint/2010/main" val="2842473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1992</Words>
  <Application>Microsoft Office PowerPoint</Application>
  <PresentationFormat>Custom</PresentationFormat>
  <Paragraphs>140</Paragraphs>
  <Slides>14</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Times New Roman</vt:lpstr>
      <vt:lpstr>Wingdings</vt:lpstr>
      <vt:lpstr>Google Sans Flex</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cp:lastModifiedBy>Administrator</cp:lastModifiedBy>
  <cp:revision>2</cp:revision>
  <dcterms:created xsi:type="dcterms:W3CDTF">2026-03-18T02:33:45Z</dcterms:created>
  <dcterms:modified xsi:type="dcterms:W3CDTF">2026-03-18T03:27:59Z</dcterms:modified>
</cp:coreProperties>
</file>